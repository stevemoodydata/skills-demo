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g8hT1GSpvwKpPQj1lJ3s7Ci5Kk1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(2 min total for slides 1-2.) Introduce yourself and role. Set expectations: this is part 1 of 2 - understanding the legacy system. Part 2 is using the blueprint to build.</a:t>
            </a:r>
            <a:endParaRPr/>
          </a:p>
        </p:txBody>
      </p:sp>
      <p:sp>
        <p:nvSpPr>
          <p:cNvPr id="22" name="Google Shape;2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rPr lang="en-US"/>
              <a:t>(~30 sec.) Quick intro: Lead Data Engineering Consultant at Concentrix. 25+ years of SQL, 15+ in data engineering, 10+ as a consultant. Currently on a renewable energy market data platform on Azure Databricks. Keep it short and move on.</a:t>
            </a:r>
          </a:p>
        </p:txBody>
      </p:sp>
      <p:sp>
        <p:nvSpPr>
          <p:cNvPr id="29" name="Google Shape;2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Four parts, one demo in the middle. Tell them what they can steal: the skill-file pattern, the index, the documentation standard.</a:t>
            </a:r>
            <a:endParaRPr/>
          </a:p>
        </p:txBody>
      </p:sp>
      <p:sp>
        <p:nvSpPr>
          <p:cNvPr id="51" name="Google Shape;5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(~4 min for slides 4-5) Land the scale. A .NET/Oracle system feeding market and energy data; the ETL logic lives in VB.NET services, not in documents.</a:t>
            </a:r>
            <a:endParaRPr/>
          </a:p>
        </p:txBody>
      </p:sp>
      <p:sp>
        <p:nvSpPr>
          <p:cNvPr id="79" name="Google Shape;79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Business rules buried in procedural code, no specs, no tests. Manual review is months of reading, inconsistent notes, and knowledge that stays in people's heads. Keep this short - ad hoc AI is the more interesting failure story.</a:t>
            </a:r>
            <a:endParaRPr/>
          </a:p>
        </p:txBody>
      </p:sp>
      <p:sp>
        <p:nvSpPr>
          <p:cNvPr id="96" name="Google Shape;9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rPr lang="en-US"/>
              <a:t>(~4 min for slides 6-8.) Honest story: we started like everyone does. Each dev pointed Copilot at a service or proc with their own prompt. Felt fast; early results looked promising.</a:t>
            </a:r>
          </a:p>
        </p:txBody>
      </p:sp>
      <p:sp>
        <p:nvSpPr>
          <p:cNvPr id="118" name="Google Shape;11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rPr lang="en-US"/>
              <a:t>Light moment: everyone has seen vibe coding; this is vibe decoding. Same kind of procedure, two different shapes of answer. Highlight differences in structure, depth and terminology.</a:t>
            </a:r>
          </a:p>
        </p:txBody>
      </p:sp>
      <p:sp>
        <p:nvSpPr>
          <p:cNvPr id="137" name="Google Shape;13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rPr lang="en-US"/>
              <a:t>Six problems, one root cause: no shared method. Walk the grid, and land on Costly: everyone re-reading all of the code burns tokens.</a:t>
            </a:r>
          </a:p>
        </p:txBody>
      </p:sp>
      <p:sp>
        <p:nvSpPr>
          <p:cNvPr id="151" name="Google Shape;15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This is the bridge slide and the roadmap for the approach section. Each need maps to exactly one step. Reuse this graphic as the index during the demo.</a:t>
            </a:r>
            <a:endParaRPr/>
          </a:p>
        </p:txBody>
      </p:sp>
      <p:sp>
        <p:nvSpPr>
          <p:cNvPr id="176" name="Google Shape;17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rPr lang="en-US"/>
              <a:t>(~5 min for slides 9-11.) The framing: AI reads, humans verify. The goal is a blueprint that can drive the build, not just notes. Tool is GitHub Copilot in VS Code.</a:t>
            </a:r>
          </a:p>
        </p:txBody>
      </p:sp>
      <p:sp>
        <p:nvSpPr>
          <p:cNvPr id="198" name="Google Shape;19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rPr lang="en-US"/>
              <a:t>Walk left to right. Index: why dumping 600k+ lines in a prompt fails, so we mapped services, procs and dependencies. Skill file: what to look for - business rules, data flows, side effects, edge cases; ignore boilerplate. Standard doc: one template for every service and proc. Humans stay in the loop at review.</a:t>
            </a:r>
          </a:p>
        </p:txBody>
      </p:sp>
      <p:sp>
        <p:nvSpPr>
          <p:cNvPr id="212" name="Google Shape;21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(~7 min.) Switch to VS Code. Say clearly: the demo service is a stand-in, not the real code. Follow the run sheet. Fallbacks: pre-generated outputs in the outputs folder and a recorded run.</a:t>
            </a:r>
            <a:endParaRPr/>
          </a:p>
        </p:txBody>
      </p:sp>
      <p:sp>
        <p:nvSpPr>
          <p:cNvPr id="243" name="Google Shape;24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rPr lang="en-US"/>
              <a:t>(~3 min for slides 13-15.) Three payoffs: faster understanding, reviewable inputs, a repeatable method. Keep claims to what you can defend.</a:t>
            </a:r>
          </a:p>
        </p:txBody>
      </p:sp>
      <p:sp>
        <p:nvSpPr>
          <p:cNvPr id="270" name="Google Shape;270;p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rPr lang="en-US"/>
              <a:t>Where we'd go next: more focused skills, an agent that runs them across the index, and evidence and checks built in (cited claims, a reviewer agent, automated validation). Tie each back to what went wrong in the ad hoc phase.</a:t>
            </a:r>
          </a:p>
        </p:txBody>
      </p:sp>
      <p:sp>
        <p:nvSpPr>
          <p:cNvPr id="292" name="Google Shape;29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rPr lang="en-US"/>
              <a:t>Docs became the spec for the Databricks build. Copilot used the blueprint to generate new code. Metadata-driven ingestion fed directly from the findings.</a:t>
            </a:r>
          </a:p>
        </p:txBody>
      </p:sp>
      <p:sp>
        <p:nvSpPr>
          <p:cNvPr id="308" name="Google Shape;30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(~2 min for slides 16-17.) Three things to try, then the Part 2 teaser: using the blueprint to drive development with AI.</a:t>
            </a:r>
            <a:endParaRPr/>
          </a:p>
        </p:txBody>
      </p:sp>
      <p:sp>
        <p:nvSpPr>
          <p:cNvPr id="332" name="Google Shape;33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Questions. Offer the demo kit structure (skills, index, standard) as reusable patterns, not the real artifacts.</a:t>
            </a:r>
            <a:endParaRPr/>
          </a:p>
        </p:txBody>
      </p:sp>
      <p:sp>
        <p:nvSpPr>
          <p:cNvPr id="354" name="Google Shape;35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RO">
  <p:cSld name="HERO">
    <p:bg>
      <p:bgPr>
        <a:solidFill>
          <a:schemeClr val="dk2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type="title"/>
          </p:nvPr>
        </p:nvSpPr>
        <p:spPr>
          <a:xfrm>
            <a:off x="640080" y="1188720"/>
            <a:ext cx="78638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mbria"/>
              <a:buNone/>
              <a:defRPr b="1" i="0" sz="44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0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  <a:defRPr b="1" i="0" sz="30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20"/>
          <p:cNvSpPr txBox="1"/>
          <p:nvPr>
            <p:ph idx="12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">
  <p:cSld name="DARK">
    <p:bg>
      <p:bgPr>
        <a:solidFill>
          <a:schemeClr val="dk2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1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mbria"/>
              <a:buNone/>
              <a:defRPr b="1" i="0" sz="30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"/>
          <p:cNvSpPr txBox="1"/>
          <p:nvPr>
            <p:ph type="title"/>
          </p:nvPr>
        </p:nvSpPr>
        <p:spPr>
          <a:xfrm>
            <a:off x="419825" y="272600"/>
            <a:ext cx="8084100" cy="22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mbria"/>
              <a:buNone/>
            </a:pPr>
            <a:r>
              <a:rPr lang="en-US"/>
              <a:t>From Legacy Code to Blueprint</a:t>
            </a:r>
            <a:endParaRPr sz="3300"/>
          </a:p>
        </p:txBody>
      </p:sp>
      <p:sp>
        <p:nvSpPr>
          <p:cNvPr id="25" name="Google Shape;25;p1"/>
          <p:cNvSpPr txBox="1"/>
          <p:nvPr/>
        </p:nvSpPr>
        <p:spPr>
          <a:xfrm>
            <a:off x="640080" y="274320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Using AI skills to reverse engineer a .NET / Oracle system before migrating it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 txBox="1"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Steve Moody  |  Portland Data + AI Meetup  |  Part 1 of a two-part migration series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About me</a:t>
            </a:r>
            <a:endParaRPr sz="3000"/>
          </a:p>
        </p:txBody>
      </p:sp>
      <p:pic>
        <p:nvPicPr>
          <p:cNvPr descr="Headshot of Steve Moody" id="32" name="Google Shape;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371600"/>
            <a:ext cx="1828800" cy="18288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3" name="Google Shape;33;p23"/>
          <p:cNvSpPr txBox="1"/>
          <p:nvPr/>
        </p:nvSpPr>
        <p:spPr>
          <a:xfrm>
            <a:off x="457200" y="333756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Steve Moody</a:t>
            </a:r>
            <a:endParaRPr/>
          </a:p>
        </p:txBody>
      </p:sp>
      <p:sp>
        <p:nvSpPr>
          <p:cNvPr id="34" name="Google Shape;34;p23"/>
          <p:cNvSpPr txBox="1"/>
          <p:nvPr/>
        </p:nvSpPr>
        <p:spPr>
          <a:xfrm>
            <a:off x="457200" y="370332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Lead Data Engineering Consultant, Concentrix</a:t>
            </a:r>
            <a:endParaRPr/>
          </a:p>
        </p:txBody>
      </p:sp>
      <p:sp>
        <p:nvSpPr>
          <p:cNvPr id="35" name="Google Shape;35;p23"/>
          <p:cNvSpPr/>
          <p:nvPr/>
        </p:nvSpPr>
        <p:spPr>
          <a:xfrm>
            <a:off x="3200400" y="1371600"/>
            <a:ext cx="1737360" cy="1371600"/>
          </a:xfrm>
          <a:prstGeom prst="roundRect">
            <a:avLst>
              <a:gd fmla="val 381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3"/>
          <p:cNvSpPr txBox="1"/>
          <p:nvPr/>
        </p:nvSpPr>
        <p:spPr>
          <a:xfrm>
            <a:off x="3383280" y="150876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25+</a:t>
            </a:r>
            <a:endParaRPr/>
          </a:p>
        </p:txBody>
      </p:sp>
      <p:sp>
        <p:nvSpPr>
          <p:cNvPr id="37" name="Google Shape;37;p23"/>
          <p:cNvSpPr txBox="1"/>
          <p:nvPr/>
        </p:nvSpPr>
        <p:spPr>
          <a:xfrm>
            <a:off x="3383280" y="21945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years of SQL</a:t>
            </a:r>
            <a:endParaRPr/>
          </a:p>
        </p:txBody>
      </p:sp>
      <p:sp>
        <p:nvSpPr>
          <p:cNvPr id="38" name="Google Shape;38;p23"/>
          <p:cNvSpPr/>
          <p:nvPr/>
        </p:nvSpPr>
        <p:spPr>
          <a:xfrm>
            <a:off x="5074920" y="1371600"/>
            <a:ext cx="1737360" cy="1371600"/>
          </a:xfrm>
          <a:prstGeom prst="roundRect">
            <a:avLst>
              <a:gd fmla="val 381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3"/>
          <p:cNvSpPr txBox="1"/>
          <p:nvPr/>
        </p:nvSpPr>
        <p:spPr>
          <a:xfrm>
            <a:off x="5257800" y="150876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15+</a:t>
            </a:r>
            <a:endParaRPr/>
          </a:p>
        </p:txBody>
      </p:sp>
      <p:sp>
        <p:nvSpPr>
          <p:cNvPr id="40" name="Google Shape;40;p23"/>
          <p:cNvSpPr txBox="1"/>
          <p:nvPr/>
        </p:nvSpPr>
        <p:spPr>
          <a:xfrm>
            <a:off x="5257800" y="21945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years in data engineering</a:t>
            </a:r>
            <a:endParaRPr/>
          </a:p>
        </p:txBody>
      </p:sp>
      <p:sp>
        <p:nvSpPr>
          <p:cNvPr id="41" name="Google Shape;41;p23"/>
          <p:cNvSpPr/>
          <p:nvPr/>
        </p:nvSpPr>
        <p:spPr>
          <a:xfrm>
            <a:off x="6949440" y="1371600"/>
            <a:ext cx="1737360" cy="1371600"/>
          </a:xfrm>
          <a:prstGeom prst="roundRect">
            <a:avLst>
              <a:gd fmla="val 381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3"/>
          <p:cNvSpPr txBox="1"/>
          <p:nvPr/>
        </p:nvSpPr>
        <p:spPr>
          <a:xfrm>
            <a:off x="7132320" y="150876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10+</a:t>
            </a:r>
            <a:endParaRPr/>
          </a:p>
        </p:txBody>
      </p:sp>
      <p:sp>
        <p:nvSpPr>
          <p:cNvPr id="43" name="Google Shape;43;p23"/>
          <p:cNvSpPr txBox="1"/>
          <p:nvPr/>
        </p:nvSpPr>
        <p:spPr>
          <a:xfrm>
            <a:off x="7132320" y="21945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years as a consultant</a:t>
            </a:r>
            <a:endParaRPr/>
          </a:p>
        </p:txBody>
      </p:sp>
      <p:sp>
        <p:nvSpPr>
          <p:cNvPr id="44" name="Google Shape;44;p23"/>
          <p:cNvSpPr/>
          <p:nvPr/>
        </p:nvSpPr>
        <p:spPr>
          <a:xfrm>
            <a:off x="3200400" y="2880360"/>
            <a:ext cx="5486400" cy="1600200"/>
          </a:xfrm>
          <a:prstGeom prst="roundRect">
            <a:avLst>
              <a:gd fmla="val 381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3"/>
          <p:cNvSpPr txBox="1"/>
          <p:nvPr/>
        </p:nvSpPr>
        <p:spPr>
          <a:xfrm>
            <a:off x="3383280" y="301752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Currently working on</a:t>
            </a:r>
            <a:endParaRPr/>
          </a:p>
        </p:txBody>
      </p:sp>
      <p:sp>
        <p:nvSpPr>
          <p:cNvPr id="46" name="Google Shape;46;p23"/>
          <p:cNvSpPr txBox="1"/>
          <p:nvPr/>
        </p:nvSpPr>
        <p:spPr>
          <a:xfrm>
            <a:off x="3383280" y="3474720"/>
            <a:ext cx="5120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Renewable energy market data platform: 14 sources, 40+ data flows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Azure Databricks, Unity Catalog, Spark and dbt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Past work across energy, healthcare and financial services</a:t>
            </a:r>
            <a:endParaRPr/>
          </a:p>
        </p:txBody>
      </p:sp>
      <p:sp>
        <p:nvSpPr>
          <p:cNvPr id="47" name="Google Shape;47;p23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What we'll cover</a:t>
            </a:r>
            <a:endParaRPr sz="3000"/>
          </a:p>
        </p:txBody>
      </p:sp>
      <p:sp>
        <p:nvSpPr>
          <p:cNvPr id="54" name="Google Shape;54;p2"/>
          <p:cNvSpPr/>
          <p:nvPr/>
        </p:nvSpPr>
        <p:spPr>
          <a:xfrm>
            <a:off x="457200" y="1463040"/>
            <a:ext cx="1920240" cy="2286000"/>
          </a:xfrm>
          <a:prstGeom prst="roundRect">
            <a:avLst>
              <a:gd fmla="val 381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 txBox="1"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 txBox="1"/>
          <p:nvPr/>
        </p:nvSpPr>
        <p:spPr>
          <a:xfrm>
            <a:off x="640080" y="22860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640080" y="2697480"/>
            <a:ext cx="1554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legacy system nobody could explain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2542032" y="1463040"/>
            <a:ext cx="1920240" cy="2286000"/>
          </a:xfrm>
          <a:prstGeom prst="roundRect">
            <a:avLst>
              <a:gd fmla="val 381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2724912" y="1645920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2724912" y="1645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2724912" y="22860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 approach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 txBox="1"/>
          <p:nvPr/>
        </p:nvSpPr>
        <p:spPr>
          <a:xfrm>
            <a:off x="2724912" y="2697480"/>
            <a:ext cx="1554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ad hoc prompts to skills, an index and a standard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4626864" y="1463040"/>
            <a:ext cx="1920240" cy="2286000"/>
          </a:xfrm>
          <a:prstGeom prst="roundRect">
            <a:avLst>
              <a:gd fmla="val 381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4809744" y="1645920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4809744" y="1645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4809744" y="22860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 payoff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 txBox="1"/>
          <p:nvPr/>
        </p:nvSpPr>
        <p:spPr>
          <a:xfrm>
            <a:off x="4809744" y="2697480"/>
            <a:ext cx="1554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Documentation that became the build blueprint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6711696" y="1463040"/>
            <a:ext cx="1920240" cy="2286000"/>
          </a:xfrm>
          <a:prstGeom prst="roundRect">
            <a:avLst>
              <a:gd fmla="val 381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6894576" y="1645920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/>
          <p:cNvSpPr txBox="1"/>
          <p:nvPr/>
        </p:nvSpPr>
        <p:spPr>
          <a:xfrm>
            <a:off x="6894576" y="1645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6894576" y="22860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 lessons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 txBox="1"/>
          <p:nvPr/>
        </p:nvSpPr>
        <p:spPr>
          <a:xfrm>
            <a:off x="6894576" y="2697480"/>
            <a:ext cx="1554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we learned and how we'll improve it for future projects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Plus a live demo, and what you can reuse on your own migration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 txBox="1"/>
          <p:nvPr>
            <p:ph type="title"/>
          </p:nvPr>
        </p:nvSpPr>
        <p:spPr>
          <a:xfrm>
            <a:off x="457200" y="27432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The starting point</a:t>
            </a:r>
            <a:endParaRPr sz="3000"/>
          </a:p>
        </p:txBody>
      </p:sp>
      <p:sp>
        <p:nvSpPr>
          <p:cNvPr id="82" name="Google Shape;82;p3"/>
          <p:cNvSpPr txBox="1"/>
          <p:nvPr/>
        </p:nvSpPr>
        <p:spPr>
          <a:xfrm>
            <a:off x="457200" y="11430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 .NET and Oracle system feeding renewa</a:t>
            </a:r>
            <a:r>
              <a:rPr lang="en-US" sz="1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ble </a:t>
            </a:r>
            <a:r>
              <a:rPr b="0"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energy data application and reporting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457200" y="1828800"/>
            <a:ext cx="2560200" cy="2872200"/>
          </a:xfrm>
          <a:prstGeom prst="roundRect">
            <a:avLst>
              <a:gd fmla="val 32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"/>
          <p:cNvSpPr txBox="1"/>
          <p:nvPr/>
        </p:nvSpPr>
        <p:spPr>
          <a:xfrm>
            <a:off x="640050" y="2011675"/>
            <a:ext cx="2194500" cy="109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i="0" sz="6000" u="none" cap="none" strike="noStrike">
              <a:solidFill>
                <a:srgbClr val="2A9D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 txBox="1"/>
          <p:nvPr/>
        </p:nvSpPr>
        <p:spPr>
          <a:xfrm>
            <a:off x="640055" y="3108950"/>
            <a:ext cx="2194500" cy="142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B3C49"/>
                </a:solidFill>
                <a:latin typeface="Calibri"/>
                <a:ea typeface="Calibri"/>
                <a:cs typeface="Calibri"/>
                <a:sym typeface="Calibri"/>
              </a:rPr>
              <a:t>VB.NET services holding:</a:t>
            </a:r>
            <a:endParaRPr b="0" i="0" sz="1600" u="none" cap="none" strike="noStrike">
              <a:solidFill>
                <a:srgbClr val="0B3C4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F2933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ETL logic</a:t>
            </a:r>
            <a:endParaRPr b="0" i="0" sz="1400" u="none" cap="none" strike="noStrike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F2933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Orchestration (schedules &amp; intervals)</a:t>
            </a:r>
            <a:endParaRPr b="0" i="0" sz="1400" u="none" cap="none" strike="noStrike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F2933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Authorization methods &amp; cert details</a:t>
            </a:r>
            <a:endParaRPr b="0" i="0" sz="1400" u="none" cap="none" strike="noStrike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3291850" y="1828800"/>
            <a:ext cx="2560200" cy="2872200"/>
          </a:xfrm>
          <a:prstGeom prst="roundRect">
            <a:avLst>
              <a:gd fmla="val 32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 txBox="1"/>
          <p:nvPr/>
        </p:nvSpPr>
        <p:spPr>
          <a:xfrm>
            <a:off x="3474720" y="2011680"/>
            <a:ext cx="21945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600K+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 txBox="1"/>
          <p:nvPr/>
        </p:nvSpPr>
        <p:spPr>
          <a:xfrm>
            <a:off x="3474720" y="3200400"/>
            <a:ext cx="2194500" cy="731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Lines of undocumented code, some redundant, but all requiring review</a:t>
            </a:r>
            <a:endParaRPr b="0" i="0" sz="1600" u="none" cap="none" strike="noStrike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6126475" y="1828800"/>
            <a:ext cx="2560200" cy="2872200"/>
          </a:xfrm>
          <a:prstGeom prst="roundRect">
            <a:avLst>
              <a:gd fmla="val 32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"/>
          <p:cNvSpPr txBox="1"/>
          <p:nvPr/>
        </p:nvSpPr>
        <p:spPr>
          <a:xfrm>
            <a:off x="6309360" y="2011680"/>
            <a:ext cx="21945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100+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 txBox="1"/>
          <p:nvPr/>
        </p:nvSpPr>
        <p:spPr>
          <a:xfrm>
            <a:off x="6309360" y="3200400"/>
            <a:ext cx="21945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Oracle stored procedures containing more business logic feeding 98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SSRS reports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 txBox="1"/>
          <p:nvPr>
            <p:ph idx="4294967295" type="sldNum"/>
          </p:nvPr>
        </p:nvSpPr>
        <p:spPr>
          <a:xfrm>
            <a:off x="8412480" y="475488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You can't migrate what you don't understand</a:t>
            </a:r>
            <a:endParaRPr sz="3000"/>
          </a:p>
        </p:txBody>
      </p:sp>
      <p:sp>
        <p:nvSpPr>
          <p:cNvPr id="99" name="Google Shape;99;p4"/>
          <p:cNvSpPr/>
          <p:nvPr/>
        </p:nvSpPr>
        <p:spPr>
          <a:xfrm>
            <a:off x="457200" y="1371600"/>
            <a:ext cx="8229600" cy="914400"/>
          </a:xfrm>
          <a:prstGeom prst="roundRect">
            <a:avLst>
              <a:gd fmla="val 8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"/>
          <p:cNvSpPr txBox="1"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 txBox="1"/>
          <p:nvPr/>
        </p:nvSpPr>
        <p:spPr>
          <a:xfrm>
            <a:off x="1325880" y="1481328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Rules buried in code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 txBox="1"/>
          <p:nvPr/>
        </p:nvSpPr>
        <p:spPr>
          <a:xfrm>
            <a:off x="1325880" y="1828800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 logic hides in procedural VB.NET and PL/SQL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457200" y="2468880"/>
            <a:ext cx="8229600" cy="914400"/>
          </a:xfrm>
          <a:prstGeom prst="roundRect">
            <a:avLst>
              <a:gd fmla="val 8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 txBox="1"/>
          <p:nvPr/>
        </p:nvSpPr>
        <p:spPr>
          <a:xfrm>
            <a:off x="1325880" y="2578608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No safety net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 txBox="1"/>
          <p:nvPr/>
        </p:nvSpPr>
        <p:spPr>
          <a:xfrm>
            <a:off x="1325880" y="2926080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specs, no tests, little documentation, very little institutional knowledge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457200" y="3566160"/>
            <a:ext cx="8229600" cy="914400"/>
          </a:xfrm>
          <a:prstGeom prst="roundRect">
            <a:avLst>
              <a:gd fmla="val 8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40080" y="3794760"/>
            <a:ext cx="457200" cy="457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/>
          <p:cNvSpPr txBox="1"/>
          <p:nvPr/>
        </p:nvSpPr>
        <p:spPr>
          <a:xfrm>
            <a:off x="640080" y="37947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1325880" y="3675888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Manual review doesn't scale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1325880" y="4023360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Months of reading, notes that differ person to person, knowledge stuck in heads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Where we started: ad hoc prompts</a:t>
            </a:r>
            <a:endParaRPr sz="3000"/>
          </a:p>
        </p:txBody>
      </p:sp>
      <p:sp>
        <p:nvSpPr>
          <p:cNvPr id="121" name="Google Shape;121;p5"/>
          <p:cNvSpPr txBox="1"/>
          <p:nvPr/>
        </p:nvSpPr>
        <p:spPr>
          <a:xfrm>
            <a:off x="457200" y="1463040"/>
            <a:ext cx="402336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dev pointed Copilot at a service or procedure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Shared goal: understand the system well enough to migrate 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Felt fast, and early results looked promising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4846320" y="1371600"/>
            <a:ext cx="1554480" cy="640080"/>
          </a:xfrm>
          <a:prstGeom prst="roundRect">
            <a:avLst>
              <a:gd fmla="val 1142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"/>
          <p:cNvSpPr txBox="1"/>
          <p:nvPr/>
        </p:nvSpPr>
        <p:spPr>
          <a:xfrm>
            <a:off x="4846320" y="137160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Dev A prompt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6492240" y="1554480"/>
            <a:ext cx="45720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4846320" y="2286000"/>
            <a:ext cx="1554480" cy="640080"/>
          </a:xfrm>
          <a:prstGeom prst="roundRect">
            <a:avLst>
              <a:gd fmla="val 1142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 txBox="1"/>
          <p:nvPr/>
        </p:nvSpPr>
        <p:spPr>
          <a:xfrm>
            <a:off x="4846320" y="228600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Dev B prompt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6492240" y="2468880"/>
            <a:ext cx="45720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4846320" y="3200400"/>
            <a:ext cx="1554480" cy="640080"/>
          </a:xfrm>
          <a:prstGeom prst="roundRect">
            <a:avLst>
              <a:gd fmla="val 1142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 txBox="1"/>
          <p:nvPr/>
        </p:nvSpPr>
        <p:spPr>
          <a:xfrm>
            <a:off x="4846320" y="320040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Dev C prompt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6492240" y="3383280"/>
            <a:ext cx="45720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7040880" y="1737360"/>
            <a:ext cx="1645920" cy="1645920"/>
          </a:xfrm>
          <a:prstGeom prst="roundRect">
            <a:avLst>
              <a:gd fmla="val 4444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7040880" y="1737360"/>
            <a:ext cx="16459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Same legacy codebase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"Vibe decoding" in practice</a:t>
            </a:r>
            <a:endParaRPr sz="3000"/>
          </a:p>
        </p:txBody>
      </p:sp>
      <p:sp>
        <p:nvSpPr>
          <p:cNvPr id="140" name="Google Shape;140;p6"/>
          <p:cNvSpPr/>
          <p:nvPr/>
        </p:nvSpPr>
        <p:spPr>
          <a:xfrm>
            <a:off x="457200" y="1371600"/>
            <a:ext cx="4023360" cy="2651760"/>
          </a:xfrm>
          <a:prstGeom prst="roundRect">
            <a:avLst>
              <a:gd fmla="val 275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6"/>
          <p:cNvSpPr txBox="1"/>
          <p:nvPr/>
        </p:nvSpPr>
        <p:spPr>
          <a:xfrm>
            <a:off x="685800" y="155448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Dev A's output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 txBox="1"/>
          <p:nvPr/>
        </p:nvSpPr>
        <p:spPr>
          <a:xfrm>
            <a:off x="685800" y="2057400"/>
            <a:ext cx="3673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a scheduled data-ingestion service with two pipelines: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Weather pipeline: HTTP API → JSON parsing → unit and time conversion → Oracle stored procedure.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Meter pipeline: CSV files → data parsing → Oracle stored procedure → file archive → stale-reading purge.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VB.NET code controls orchestration, transformation, and procedure calls. The Oracle packages control the actual database operations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4663440" y="1371600"/>
            <a:ext cx="4023360" cy="2651760"/>
          </a:xfrm>
          <a:prstGeom prst="roundRect">
            <a:avLst>
              <a:gd fmla="val 275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"/>
          <p:cNvSpPr txBox="1"/>
          <p:nvPr/>
        </p:nvSpPr>
        <p:spPr>
          <a:xfrm>
            <a:off x="4892040" y="155448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Dev B's output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 txBox="1"/>
          <p:nvPr/>
        </p:nvSpPr>
        <p:spPr>
          <a:xfrm>
            <a:off x="4892050" y="1931675"/>
            <a:ext cx="3566100" cy="19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Weather observations: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900" u="none" cap="none" strike="noStrike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WeatherClient.vb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polls an HTTP API every 15 minutes for a list of stations (STN001 to STN003). It converts Fahrenheit to Celsius and mph to m/s, and converts UTC timestamps to Central time.</a:t>
            </a:r>
            <a:b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Meter readings: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900" u="none" cap="none" strike="noStrike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MeterFileProcessor.vb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checks a network share every 60 minutes for CSV files, parses them into kWh readings, and moves each file to an archive folder.</a:t>
            </a:r>
            <a:b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Orchestration: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900" u="none" cap="none" strike="noStrike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WeatherMeterService.vb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the Windows service itself. It runs two timers, one per feed, and after each meter run it purges readings older than 30 days.</a:t>
            </a:r>
            <a:b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Database access: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900" u="none" cap="none" strike="noStrike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DemoDb.vb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wraps the Oracle stored-procedure calls (insert observation, insert meter reading, purge).</a:t>
            </a:r>
            <a:b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Config: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900" u="none" cap="none" strike="noStrike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App.config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holds the polling intervals, API URL and key, file share paths, and the Oracle connection string.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1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Same kind of procedure. Two different shapes of answer.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Where it broke down</a:t>
            </a:r>
            <a:endParaRPr sz="3000"/>
          </a:p>
        </p:txBody>
      </p:sp>
      <p:sp>
        <p:nvSpPr>
          <p:cNvPr id="154" name="Google Shape;154;p7"/>
          <p:cNvSpPr/>
          <p:nvPr/>
        </p:nvSpPr>
        <p:spPr>
          <a:xfrm>
            <a:off x="457200" y="1371600"/>
            <a:ext cx="2651760" cy="1554480"/>
          </a:xfrm>
          <a:prstGeom prst="roundRect">
            <a:avLst>
              <a:gd fmla="val 470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7"/>
          <p:cNvSpPr txBox="1"/>
          <p:nvPr/>
        </p:nvSpPr>
        <p:spPr>
          <a:xfrm>
            <a:off x="640080" y="15544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Inconsistent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 txBox="1"/>
          <p:nvPr/>
        </p:nvSpPr>
        <p:spPr>
          <a:xfrm>
            <a:off x="640080" y="201168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 structure, depth and terminology per dev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3291840" y="1371600"/>
            <a:ext cx="2651760" cy="1554480"/>
          </a:xfrm>
          <a:prstGeom prst="roundRect">
            <a:avLst>
              <a:gd fmla="val 470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 txBox="1"/>
          <p:nvPr/>
        </p:nvSpPr>
        <p:spPr>
          <a:xfrm>
            <a:off x="3474720" y="15544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Slow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 txBox="1"/>
          <p:nvPr/>
        </p:nvSpPr>
        <p:spPr>
          <a:xfrm>
            <a:off x="3474720" y="201168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Everyone rediscovering the same prompt fixes and context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6126480" y="1371600"/>
            <a:ext cx="2651760" cy="1554480"/>
          </a:xfrm>
          <a:prstGeom prst="roundRect">
            <a:avLst>
              <a:gd fmla="val 470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7"/>
          <p:cNvSpPr txBox="1"/>
          <p:nvPr/>
        </p:nvSpPr>
        <p:spPr>
          <a:xfrm>
            <a:off x="6309360" y="15544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Hard to combine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 txBox="1"/>
          <p:nvPr/>
        </p:nvSpPr>
        <p:spPr>
          <a:xfrm>
            <a:off x="6309360" y="201168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Docs couldn't be compared, searched or fed downstream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457200" y="3108960"/>
            <a:ext cx="2651760" cy="1554480"/>
          </a:xfrm>
          <a:prstGeom prst="roundRect">
            <a:avLst>
              <a:gd fmla="val 470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"/>
          <p:cNvSpPr txBox="1"/>
          <p:nvPr/>
        </p:nvSpPr>
        <p:spPr>
          <a:xfrm>
            <a:off x="640080" y="32918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Hard to trust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 txBox="1"/>
          <p:nvPr/>
        </p:nvSpPr>
        <p:spPr>
          <a:xfrm>
            <a:off x="640080" y="374904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shared definition of "done" or a good doc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3291840" y="3108960"/>
            <a:ext cx="2651760" cy="1554480"/>
          </a:xfrm>
          <a:prstGeom prst="roundRect">
            <a:avLst>
              <a:gd fmla="val 470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7"/>
          <p:cNvSpPr txBox="1"/>
          <p:nvPr/>
        </p:nvSpPr>
        <p:spPr>
          <a:xfrm>
            <a:off x="3474720" y="32918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Redundant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 txBox="1"/>
          <p:nvPr/>
        </p:nvSpPr>
        <p:spPr>
          <a:xfrm>
            <a:off x="3474720" y="374904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Shared components analyzed again by different people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6126480" y="3108960"/>
            <a:ext cx="2651760" cy="1554480"/>
          </a:xfrm>
          <a:prstGeom prst="roundRect">
            <a:avLst>
              <a:gd fmla="val 470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7"/>
          <p:cNvSpPr txBox="1"/>
          <p:nvPr/>
        </p:nvSpPr>
        <p:spPr>
          <a:xfrm>
            <a:off x="6309360" y="32918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Costly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 txBox="1"/>
          <p:nvPr/>
        </p:nvSpPr>
        <p:spPr>
          <a:xfrm>
            <a:off x="6309360" y="374904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Token usage is high when everyone is reading all of the code all of the time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What we needed instead</a:t>
            </a:r>
            <a:endParaRPr sz="3000"/>
          </a:p>
        </p:txBody>
      </p:sp>
      <p:sp>
        <p:nvSpPr>
          <p:cNvPr id="179" name="Google Shape;179;p8"/>
          <p:cNvSpPr/>
          <p:nvPr/>
        </p:nvSpPr>
        <p:spPr>
          <a:xfrm>
            <a:off x="457200" y="1371600"/>
            <a:ext cx="4754880" cy="914400"/>
          </a:xfrm>
          <a:prstGeom prst="roundRect">
            <a:avLst>
              <a:gd fmla="val 8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8"/>
          <p:cNvSpPr txBox="1"/>
          <p:nvPr/>
        </p:nvSpPr>
        <p:spPr>
          <a:xfrm>
            <a:off x="685800" y="1371600"/>
            <a:ext cx="4297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shared way of telling the AI what to look for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5349240" y="1691640"/>
            <a:ext cx="73152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6217920" y="1371600"/>
            <a:ext cx="2468880" cy="914400"/>
          </a:xfrm>
          <a:prstGeom prst="roundRect">
            <a:avLst>
              <a:gd fmla="val 8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8"/>
          <p:cNvSpPr txBox="1"/>
          <p:nvPr/>
        </p:nvSpPr>
        <p:spPr>
          <a:xfrm>
            <a:off x="6217920" y="1371600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Skill files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457200" y="2468880"/>
            <a:ext cx="4754880" cy="914400"/>
          </a:xfrm>
          <a:prstGeom prst="roundRect">
            <a:avLst>
              <a:gd fmla="val 8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8"/>
          <p:cNvSpPr txBox="1"/>
          <p:nvPr/>
        </p:nvSpPr>
        <p:spPr>
          <a:xfrm>
            <a:off x="685800" y="2468880"/>
            <a:ext cx="4297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navigable map so context isn't rebuilt every time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5349240" y="2788920"/>
            <a:ext cx="73152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6217920" y="2468880"/>
            <a:ext cx="2468880" cy="914400"/>
          </a:xfrm>
          <a:prstGeom prst="roundRect">
            <a:avLst>
              <a:gd fmla="val 8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8"/>
          <p:cNvSpPr txBox="1"/>
          <p:nvPr/>
        </p:nvSpPr>
        <p:spPr>
          <a:xfrm>
            <a:off x="6217920" y="2468880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codebase index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457200" y="3566160"/>
            <a:ext cx="4754880" cy="914400"/>
          </a:xfrm>
          <a:prstGeom prst="roundRect">
            <a:avLst>
              <a:gd fmla="val 8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8"/>
          <p:cNvSpPr txBox="1"/>
          <p:nvPr/>
        </p:nvSpPr>
        <p:spPr>
          <a:xfrm>
            <a:off x="685800" y="3566160"/>
            <a:ext cx="4297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set of documentation formats everyone writes to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5349240" y="3886200"/>
            <a:ext cx="73152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6217920" y="3566160"/>
            <a:ext cx="2468880" cy="914400"/>
          </a:xfrm>
          <a:prstGeom prst="roundRect">
            <a:avLst>
              <a:gd fmla="val 8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8"/>
          <p:cNvSpPr txBox="1"/>
          <p:nvPr/>
        </p:nvSpPr>
        <p:spPr>
          <a:xfrm>
            <a:off x="6217920" y="3566160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Documentation standards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The idea: make the code explain itself</a:t>
            </a:r>
            <a:endParaRPr sz="3000"/>
          </a:p>
        </p:txBody>
      </p:sp>
      <p:sp>
        <p:nvSpPr>
          <p:cNvPr id="201" name="Google Shape;201;p9"/>
          <p:cNvSpPr/>
          <p:nvPr/>
        </p:nvSpPr>
        <p:spPr>
          <a:xfrm>
            <a:off x="457200" y="1371600"/>
            <a:ext cx="4023360" cy="2011680"/>
          </a:xfrm>
          <a:prstGeom prst="roundRect">
            <a:avLst>
              <a:gd fmla="val 363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9"/>
          <p:cNvSpPr txBox="1"/>
          <p:nvPr/>
        </p:nvSpPr>
        <p:spPr>
          <a:xfrm>
            <a:off x="731520" y="160020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 reads the code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 txBox="1"/>
          <p:nvPr/>
        </p:nvSpPr>
        <p:spPr>
          <a:xfrm>
            <a:off x="731520" y="2194560"/>
            <a:ext cx="3474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Fast, tireless, consistent when told exactly what to look for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4663440" y="1371600"/>
            <a:ext cx="4023360" cy="2011680"/>
          </a:xfrm>
          <a:prstGeom prst="roundRect">
            <a:avLst>
              <a:gd fmla="val 363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9"/>
          <p:cNvSpPr txBox="1"/>
          <p:nvPr/>
        </p:nvSpPr>
        <p:spPr>
          <a:xfrm>
            <a:off x="4937760" y="160020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Humans verify it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 txBox="1"/>
          <p:nvPr/>
        </p:nvSpPr>
        <p:spPr>
          <a:xfrm>
            <a:off x="4937760" y="2194560"/>
            <a:ext cx="3474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 claims against evidence, catch what the AI can't see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Goal: a blueprint that can drive the build, not just notes.  Tool: GitHub Copilot in VS Code.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The workflow, end to end</a:t>
            </a:r>
            <a:endParaRPr sz="3000"/>
          </a:p>
        </p:txBody>
      </p:sp>
      <p:sp>
        <p:nvSpPr>
          <p:cNvPr id="215" name="Google Shape;215;p10"/>
          <p:cNvSpPr/>
          <p:nvPr/>
        </p:nvSpPr>
        <p:spPr>
          <a:xfrm>
            <a:off x="457200" y="1737360"/>
            <a:ext cx="1188720" cy="914400"/>
          </a:xfrm>
          <a:prstGeom prst="roundRect">
            <a:avLst>
              <a:gd fmla="val 8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0"/>
          <p:cNvSpPr txBox="1"/>
          <p:nvPr/>
        </p:nvSpPr>
        <p:spPr>
          <a:xfrm>
            <a:off x="457200" y="173736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 txBox="1"/>
          <p:nvPr/>
        </p:nvSpPr>
        <p:spPr>
          <a:xfrm>
            <a:off x="457200" y="278892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VB.NET and Oracle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1673352" y="2103120"/>
            <a:ext cx="128016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1828800" y="1737360"/>
            <a:ext cx="1188720" cy="914400"/>
          </a:xfrm>
          <a:prstGeom prst="roundRect">
            <a:avLst>
              <a:gd fmla="val 8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0"/>
          <p:cNvSpPr txBox="1"/>
          <p:nvPr/>
        </p:nvSpPr>
        <p:spPr>
          <a:xfrm>
            <a:off x="1828800" y="173736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 txBox="1"/>
          <p:nvPr/>
        </p:nvSpPr>
        <p:spPr>
          <a:xfrm>
            <a:off x="1828800" y="278892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Services, procs, dependencies</a:t>
            </a:r>
            <a:b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600k+ lines of code to 3k line index file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3044952" y="2103120"/>
            <a:ext cx="128016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3200400" y="1737360"/>
            <a:ext cx="1188720" cy="914400"/>
          </a:xfrm>
          <a:prstGeom prst="roundRect">
            <a:avLst>
              <a:gd fmla="val 8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0"/>
          <p:cNvSpPr txBox="1"/>
          <p:nvPr/>
        </p:nvSpPr>
        <p:spPr>
          <a:xfrm>
            <a:off x="3200400" y="173736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Skill files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 txBox="1"/>
          <p:nvPr/>
        </p:nvSpPr>
        <p:spPr>
          <a:xfrm>
            <a:off x="3200400" y="278892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to look for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4416552" y="2103120"/>
            <a:ext cx="128016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4572000" y="1737360"/>
            <a:ext cx="1188720" cy="914400"/>
          </a:xfrm>
          <a:prstGeom prst="roundRect">
            <a:avLst>
              <a:gd fmla="val 8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0"/>
          <p:cNvSpPr txBox="1"/>
          <p:nvPr/>
        </p:nvSpPr>
        <p:spPr>
          <a:xfrm>
            <a:off x="4572000" y="173736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 analysis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 txBox="1"/>
          <p:nvPr/>
        </p:nvSpPr>
        <p:spPr>
          <a:xfrm>
            <a:off x="4572000" y="278892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Copilot in VS Code</a:t>
            </a:r>
            <a:b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Standardized set of prompts all engineers used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5788152" y="2103120"/>
            <a:ext cx="128016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5943600" y="1737360"/>
            <a:ext cx="1188720" cy="914400"/>
          </a:xfrm>
          <a:prstGeom prst="roundRect">
            <a:avLst>
              <a:gd fmla="val 8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0"/>
          <p:cNvSpPr txBox="1"/>
          <p:nvPr/>
        </p:nvSpPr>
        <p:spPr>
          <a:xfrm>
            <a:off x="5943600" y="173736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Human review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 txBox="1"/>
          <p:nvPr/>
        </p:nvSpPr>
        <p:spPr>
          <a:xfrm>
            <a:off x="5943600" y="278892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Claims checked vs evidence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Engineers verify and fill in “unknowns”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7159752" y="2103120"/>
            <a:ext cx="128016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7315200" y="1737360"/>
            <a:ext cx="1188720" cy="914400"/>
          </a:xfrm>
          <a:prstGeom prst="roundRect">
            <a:avLst>
              <a:gd fmla="val 8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0"/>
          <p:cNvSpPr txBox="1"/>
          <p:nvPr/>
        </p:nvSpPr>
        <p:spPr>
          <a:xfrm>
            <a:off x="7315200" y="173736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Standard docs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 txBox="1"/>
          <p:nvPr/>
        </p:nvSpPr>
        <p:spPr>
          <a:xfrm>
            <a:off x="7315200" y="278892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set of templates for all</a:t>
            </a:r>
            <a:b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b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Same format, same info, easy to read, set up for rebuild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Humans stay in the loop at the review checkpoint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lt1"/>
                </a:solidFill>
              </a:rPr>
              <a:t>Live demo</a:t>
            </a:r>
            <a:endParaRPr sz="3000"/>
          </a:p>
        </p:txBody>
      </p:sp>
      <p:sp>
        <p:nvSpPr>
          <p:cNvPr id="246" name="Google Shape;246;p11"/>
          <p:cNvSpPr/>
          <p:nvPr/>
        </p:nvSpPr>
        <p:spPr>
          <a:xfrm>
            <a:off x="457200" y="1554480"/>
            <a:ext cx="548640" cy="5486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1"/>
          <p:cNvSpPr txBox="1"/>
          <p:nvPr/>
        </p:nvSpPr>
        <p:spPr>
          <a:xfrm>
            <a:off x="457200" y="15544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 txBox="1"/>
          <p:nvPr/>
        </p:nvSpPr>
        <p:spPr>
          <a:xfrm>
            <a:off x="457200" y="2286000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 txBox="1"/>
          <p:nvPr/>
        </p:nvSpPr>
        <p:spPr>
          <a:xfrm>
            <a:off x="457200" y="2697480"/>
            <a:ext cx="1508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Dummy VB.NET service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2103120" y="1554480"/>
            <a:ext cx="548640" cy="5486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1"/>
          <p:cNvSpPr txBox="1"/>
          <p:nvPr/>
        </p:nvSpPr>
        <p:spPr>
          <a:xfrm>
            <a:off x="2103120" y="15544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 txBox="1"/>
          <p:nvPr/>
        </p:nvSpPr>
        <p:spPr>
          <a:xfrm>
            <a:off x="2103120" y="2286000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 txBox="1"/>
          <p:nvPr/>
        </p:nvSpPr>
        <p:spPr>
          <a:xfrm>
            <a:off x="2103120" y="2697480"/>
            <a:ext cx="1508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flow-index.md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3749040" y="1554480"/>
            <a:ext cx="548640" cy="5486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1"/>
          <p:cNvSpPr txBox="1"/>
          <p:nvPr/>
        </p:nvSpPr>
        <p:spPr>
          <a:xfrm>
            <a:off x="3749040" y="15544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 txBox="1"/>
          <p:nvPr/>
        </p:nvSpPr>
        <p:spPr>
          <a:xfrm>
            <a:off x="3749040" y="2286000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Skill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 txBox="1"/>
          <p:nvPr/>
        </p:nvSpPr>
        <p:spPr>
          <a:xfrm>
            <a:off x="3749040" y="2697480"/>
            <a:ext cx="1508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Generate the diagram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5394960" y="1554480"/>
            <a:ext cx="548640" cy="5486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1"/>
          <p:cNvSpPr txBox="1"/>
          <p:nvPr/>
        </p:nvSpPr>
        <p:spPr>
          <a:xfrm>
            <a:off x="5394960" y="15544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 txBox="1"/>
          <p:nvPr/>
        </p:nvSpPr>
        <p:spPr>
          <a:xfrm>
            <a:off x="5394960" y="2286000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Standard doc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 txBox="1"/>
          <p:nvPr/>
        </p:nvSpPr>
        <p:spPr>
          <a:xfrm>
            <a:off x="5394960" y="2697480"/>
            <a:ext cx="1508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Architecture doc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7040880" y="1554480"/>
            <a:ext cx="548640" cy="5486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1"/>
          <p:cNvSpPr txBox="1"/>
          <p:nvPr/>
        </p:nvSpPr>
        <p:spPr>
          <a:xfrm>
            <a:off x="7040880" y="15544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 txBox="1"/>
          <p:nvPr/>
        </p:nvSpPr>
        <p:spPr>
          <a:xfrm>
            <a:off x="7040880" y="2286000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Human check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 txBox="1"/>
          <p:nvPr/>
        </p:nvSpPr>
        <p:spPr>
          <a:xfrm>
            <a:off x="7040880" y="2697480"/>
            <a:ext cx="1508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Verify one citation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A fictional service stands in for the real code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3"/>
          <p:cNvSpPr txBox="1"/>
          <p:nvPr>
            <p:ph type="title"/>
          </p:nvPr>
        </p:nvSpPr>
        <p:spPr>
          <a:xfrm>
            <a:off x="457200" y="27432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What it bought us</a:t>
            </a:r>
            <a:endParaRPr sz="3000"/>
          </a:p>
        </p:txBody>
      </p:sp>
      <p:sp>
        <p:nvSpPr>
          <p:cNvPr id="273" name="Google Shape;273;p13"/>
          <p:cNvSpPr/>
          <p:nvPr/>
        </p:nvSpPr>
        <p:spPr>
          <a:xfrm>
            <a:off x="457200" y="1463040"/>
            <a:ext cx="2560200" cy="2381400"/>
          </a:xfrm>
          <a:prstGeom prst="roundRect">
            <a:avLst>
              <a:gd fmla="val 3072" name="adj"/>
            </a:avLst>
          </a:prstGeom>
          <a:solidFill>
            <a:srgbClr val="EAF2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685800" y="1691640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3"/>
          <p:cNvSpPr txBox="1"/>
          <p:nvPr/>
        </p:nvSpPr>
        <p:spPr>
          <a:xfrm>
            <a:off x="685800" y="1691640"/>
            <a:ext cx="457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 txBox="1"/>
          <p:nvPr/>
        </p:nvSpPr>
        <p:spPr>
          <a:xfrm>
            <a:off x="685800" y="2301240"/>
            <a:ext cx="2103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1" i="0" lang="en-US" sz="1850" u="none" cap="none" strike="noStrike">
                <a:solidFill>
                  <a:srgbClr val="0B3C49"/>
                </a:solidFill>
                <a:latin typeface="Calibri"/>
                <a:ea typeface="Calibri"/>
                <a:cs typeface="Calibri"/>
                <a:sym typeface="Calibri"/>
              </a:rPr>
              <a:t>Faster understanding</a:t>
            </a:r>
            <a:endParaRPr b="1" i="0" sz="1850" u="none" cap="none" strike="noStrike">
              <a:solidFill>
                <a:srgbClr val="0B3C4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3"/>
          <p:cNvSpPr txBox="1"/>
          <p:nvPr/>
        </p:nvSpPr>
        <p:spPr>
          <a:xfrm>
            <a:off x="685800" y="2891790"/>
            <a:ext cx="2103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Of the system, service by service</a:t>
            </a:r>
            <a:endParaRPr b="0" i="0" sz="1400" u="none" cap="none" strike="noStrike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3291840" y="1463040"/>
            <a:ext cx="2560200" cy="2381400"/>
          </a:xfrm>
          <a:prstGeom prst="roundRect">
            <a:avLst>
              <a:gd fmla="val 3072" name="adj"/>
            </a:avLst>
          </a:prstGeom>
          <a:solidFill>
            <a:srgbClr val="EAF2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3520440" y="1691640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3"/>
          <p:cNvSpPr txBox="1"/>
          <p:nvPr/>
        </p:nvSpPr>
        <p:spPr>
          <a:xfrm>
            <a:off x="3520440" y="1691640"/>
            <a:ext cx="457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 txBox="1"/>
          <p:nvPr/>
        </p:nvSpPr>
        <p:spPr>
          <a:xfrm>
            <a:off x="3520440" y="2301240"/>
            <a:ext cx="2103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B3C49"/>
                </a:solidFill>
                <a:latin typeface="Calibri"/>
                <a:ea typeface="Calibri"/>
                <a:cs typeface="Calibri"/>
                <a:sym typeface="Calibri"/>
              </a:rPr>
              <a:t>Reviewable inputs</a:t>
            </a:r>
            <a:endParaRPr b="1" i="0" sz="2000" u="none" cap="none" strike="noStrike">
              <a:solidFill>
                <a:srgbClr val="0B3C4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 txBox="1"/>
          <p:nvPr/>
        </p:nvSpPr>
        <p:spPr>
          <a:xfrm>
            <a:off x="3520440" y="2891790"/>
            <a:ext cx="2103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Consistent docs people could actually check</a:t>
            </a:r>
            <a:endParaRPr b="0" i="0" sz="1400" u="none" cap="none" strike="noStrike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6126480" y="1463040"/>
            <a:ext cx="2560200" cy="2381400"/>
          </a:xfrm>
          <a:prstGeom prst="roundRect">
            <a:avLst>
              <a:gd fmla="val 3072" name="adj"/>
            </a:avLst>
          </a:prstGeom>
          <a:solidFill>
            <a:srgbClr val="EAF2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6355080" y="1691640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3"/>
          <p:cNvSpPr txBox="1"/>
          <p:nvPr/>
        </p:nvSpPr>
        <p:spPr>
          <a:xfrm>
            <a:off x="6355080" y="1691640"/>
            <a:ext cx="457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 txBox="1"/>
          <p:nvPr/>
        </p:nvSpPr>
        <p:spPr>
          <a:xfrm>
            <a:off x="6355080" y="2301240"/>
            <a:ext cx="2103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1" i="0" lang="en-US" sz="1850" u="none" cap="none" strike="noStrike">
                <a:solidFill>
                  <a:srgbClr val="0B3C49"/>
                </a:solidFill>
                <a:latin typeface="Calibri"/>
                <a:ea typeface="Calibri"/>
                <a:cs typeface="Calibri"/>
                <a:sym typeface="Calibri"/>
              </a:rPr>
              <a:t>A repeatable method</a:t>
            </a:r>
            <a:endParaRPr b="1" i="0" sz="1850" u="none" cap="none" strike="noStrike">
              <a:solidFill>
                <a:srgbClr val="0B3C4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 txBox="1"/>
          <p:nvPr/>
        </p:nvSpPr>
        <p:spPr>
          <a:xfrm>
            <a:off x="6355080" y="2891790"/>
            <a:ext cx="2103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Ready for the next migration</a:t>
            </a:r>
            <a:endParaRPr b="0" i="0" sz="1400" u="none" cap="none" strike="noStrike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3"/>
          <p:cNvSpPr txBox="1"/>
          <p:nvPr>
            <p:ph idx="4294967295" type="sldNum"/>
          </p:nvPr>
        </p:nvSpPr>
        <p:spPr>
          <a:xfrm>
            <a:off x="8412480" y="475488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4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lang="en-US"/>
              <a:t>What </a:t>
            </a:r>
            <a:r>
              <a:rPr b="1" lang="en-US" sz="3000">
                <a:solidFill>
                  <a:schemeClr val="dk2"/>
                </a:solidFill>
              </a:rPr>
              <a:t>we'd </a:t>
            </a:r>
            <a:r>
              <a:rPr lang="en-US"/>
              <a:t>improve for </a:t>
            </a:r>
            <a:r>
              <a:rPr b="1" lang="en-US" sz="3000">
                <a:solidFill>
                  <a:schemeClr val="dk2"/>
                </a:solidFill>
              </a:rPr>
              <a:t>next time</a:t>
            </a:r>
            <a:endParaRPr sz="3000"/>
          </a:p>
        </p:txBody>
      </p:sp>
      <p:sp>
        <p:nvSpPr>
          <p:cNvPr id="295" name="Google Shape;295;p14"/>
          <p:cNvSpPr/>
          <p:nvPr/>
        </p:nvSpPr>
        <p:spPr>
          <a:xfrm>
            <a:off x="457200" y="1463040"/>
            <a:ext cx="2560320" cy="2377440"/>
          </a:xfrm>
          <a:prstGeom prst="roundRect">
            <a:avLst>
              <a:gd fmla="val 307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4"/>
          <p:cNvSpPr txBox="1"/>
          <p:nvPr/>
        </p:nvSpPr>
        <p:spPr>
          <a:xfrm>
            <a:off x="685800" y="1691640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Sharper skills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4"/>
          <p:cNvSpPr txBox="1"/>
          <p:nvPr/>
        </p:nvSpPr>
        <p:spPr>
          <a:xfrm>
            <a:off x="685800" y="2651760"/>
            <a:ext cx="2103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Focused skills per service type, so prompts get shorter and output stays consistent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4"/>
          <p:cNvSpPr/>
          <p:nvPr/>
        </p:nvSpPr>
        <p:spPr>
          <a:xfrm>
            <a:off x="3291840" y="1463040"/>
            <a:ext cx="2560320" cy="2377440"/>
          </a:xfrm>
          <a:prstGeom prst="roundRect">
            <a:avLst>
              <a:gd fmla="val 307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4"/>
          <p:cNvSpPr txBox="1"/>
          <p:nvPr/>
        </p:nvSpPr>
        <p:spPr>
          <a:xfrm>
            <a:off x="3520440" y="1691640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An agent, not prompts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4"/>
          <p:cNvSpPr txBox="1"/>
          <p:nvPr/>
        </p:nvSpPr>
        <p:spPr>
          <a:xfrm>
            <a:off x="3520440" y="2651760"/>
            <a:ext cx="2103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agent runs the skills across the index, so nobody hand-prompts each service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4"/>
          <p:cNvSpPr/>
          <p:nvPr/>
        </p:nvSpPr>
        <p:spPr>
          <a:xfrm>
            <a:off x="6126480" y="1463040"/>
            <a:ext cx="2560320" cy="2377440"/>
          </a:xfrm>
          <a:prstGeom prst="roundRect">
            <a:avLst>
              <a:gd fmla="val 307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4"/>
          <p:cNvSpPr txBox="1"/>
          <p:nvPr/>
        </p:nvSpPr>
        <p:spPr>
          <a:xfrm>
            <a:off x="6355080" y="1691640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Evidence and checks built in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4"/>
          <p:cNvSpPr txBox="1"/>
          <p:nvPr/>
        </p:nvSpPr>
        <p:spPr>
          <a:xfrm>
            <a:off x="6355080" y="2651760"/>
            <a:ext cx="2103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cited claim for every statement, a reviewer agent and automated validation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4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2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From documentation to blueprint</a:t>
            </a:r>
            <a:endParaRPr sz="3000"/>
          </a:p>
        </p:txBody>
      </p:sp>
      <p:sp>
        <p:nvSpPr>
          <p:cNvPr id="311" name="Google Shape;311;p12"/>
          <p:cNvSpPr/>
          <p:nvPr/>
        </p:nvSpPr>
        <p:spPr>
          <a:xfrm>
            <a:off x="457200" y="1463040"/>
            <a:ext cx="2560320" cy="2377440"/>
          </a:xfrm>
          <a:prstGeom prst="roundRect">
            <a:avLst>
              <a:gd fmla="val 307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685800" y="1691640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2"/>
          <p:cNvSpPr txBox="1"/>
          <p:nvPr/>
        </p:nvSpPr>
        <p:spPr>
          <a:xfrm>
            <a:off x="685800" y="1691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 txBox="1"/>
          <p:nvPr/>
        </p:nvSpPr>
        <p:spPr>
          <a:xfrm>
            <a:off x="685800" y="233172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Docs bec</a:t>
            </a:r>
            <a:r>
              <a:rPr b="1" lang="en-U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me the spec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 txBox="1"/>
          <p:nvPr/>
        </p:nvSpPr>
        <p:spPr>
          <a:xfrm>
            <a:off x="685800" y="3017520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standard document is the input for the Databricks build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3035808" y="2468880"/>
            <a:ext cx="237744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3291840" y="1463040"/>
            <a:ext cx="2560320" cy="2377440"/>
          </a:xfrm>
          <a:prstGeom prst="roundRect">
            <a:avLst>
              <a:gd fmla="val 307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3520440" y="1691640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2"/>
          <p:cNvSpPr txBox="1"/>
          <p:nvPr/>
        </p:nvSpPr>
        <p:spPr>
          <a:xfrm>
            <a:off x="3520440" y="1691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 txBox="1"/>
          <p:nvPr/>
        </p:nvSpPr>
        <p:spPr>
          <a:xfrm>
            <a:off x="3520440" y="233172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Copilot bui</a:t>
            </a:r>
            <a:r>
              <a:rPr b="1" lang="en-U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lds</a:t>
            </a: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from 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 txBox="1"/>
          <p:nvPr/>
        </p:nvSpPr>
        <p:spPr>
          <a:xfrm>
            <a:off x="3520440" y="3017520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blueprint 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guides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generation of the new code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5870448" y="2468880"/>
            <a:ext cx="237744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6126480" y="1463040"/>
            <a:ext cx="2560320" cy="2377440"/>
          </a:xfrm>
          <a:prstGeom prst="roundRect">
            <a:avLst>
              <a:gd fmla="val 307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6355080" y="1691640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2"/>
          <p:cNvSpPr txBox="1"/>
          <p:nvPr/>
        </p:nvSpPr>
        <p:spPr>
          <a:xfrm>
            <a:off x="6355080" y="1691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 txBox="1"/>
          <p:nvPr/>
        </p:nvSpPr>
        <p:spPr>
          <a:xfrm>
            <a:off x="6355080" y="233172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Metadata drives ingestion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2"/>
          <p:cNvSpPr txBox="1"/>
          <p:nvPr/>
        </p:nvSpPr>
        <p:spPr>
          <a:xfrm>
            <a:off x="6355080" y="3017520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Findings feed metadata-driven ingestion directly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6"/>
          <p:cNvSpPr txBox="1"/>
          <p:nvPr>
            <p:ph type="title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Three things to try on your migration</a:t>
            </a:r>
            <a:endParaRPr sz="3000"/>
          </a:p>
        </p:txBody>
      </p:sp>
      <p:sp>
        <p:nvSpPr>
          <p:cNvPr id="335" name="Google Shape;335;p16"/>
          <p:cNvSpPr/>
          <p:nvPr/>
        </p:nvSpPr>
        <p:spPr>
          <a:xfrm>
            <a:off x="457200" y="1463040"/>
            <a:ext cx="548640" cy="54864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6"/>
          <p:cNvSpPr txBox="1"/>
          <p:nvPr/>
        </p:nvSpPr>
        <p:spPr>
          <a:xfrm>
            <a:off x="457200" y="14630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6"/>
          <p:cNvSpPr txBox="1"/>
          <p:nvPr/>
        </p:nvSpPr>
        <p:spPr>
          <a:xfrm>
            <a:off x="1188720" y="137160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Index before you prompt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6"/>
          <p:cNvSpPr txBox="1"/>
          <p:nvPr/>
        </p:nvSpPr>
        <p:spPr>
          <a:xfrm>
            <a:off x="1188720" y="1755648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 the AI a map, not a haystack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6"/>
          <p:cNvSpPr/>
          <p:nvPr/>
        </p:nvSpPr>
        <p:spPr>
          <a:xfrm>
            <a:off x="457200" y="2468880"/>
            <a:ext cx="548640" cy="54864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6"/>
          <p:cNvSpPr txBox="1"/>
          <p:nvPr/>
        </p:nvSpPr>
        <p:spPr>
          <a:xfrm>
            <a:off x="457200" y="24688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6"/>
          <p:cNvSpPr txBox="1"/>
          <p:nvPr/>
        </p:nvSpPr>
        <p:spPr>
          <a:xfrm>
            <a:off x="1188720" y="237744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Write the skill, not the prompt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6"/>
          <p:cNvSpPr txBox="1"/>
          <p:nvPr/>
        </p:nvSpPr>
        <p:spPr>
          <a:xfrm>
            <a:off x="1188720" y="2761488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Capture what to look for once, reuse it everywhere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6"/>
          <p:cNvSpPr/>
          <p:nvPr/>
        </p:nvSpPr>
        <p:spPr>
          <a:xfrm>
            <a:off x="457200" y="3474720"/>
            <a:ext cx="548640" cy="54864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6"/>
          <p:cNvSpPr txBox="1"/>
          <p:nvPr/>
        </p:nvSpPr>
        <p:spPr>
          <a:xfrm>
            <a:off x="457200" y="34747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6"/>
          <p:cNvSpPr txBox="1"/>
          <p:nvPr/>
        </p:nvSpPr>
        <p:spPr>
          <a:xfrm>
            <a:off x="1188720" y="338328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One standard, humans verify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6"/>
          <p:cNvSpPr txBox="1"/>
          <p:nvPr/>
        </p:nvSpPr>
        <p:spPr>
          <a:xfrm>
            <a:off x="1188720" y="3767328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Same template, every claim backed by evidence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6"/>
          <p:cNvSpPr/>
          <p:nvPr/>
        </p:nvSpPr>
        <p:spPr>
          <a:xfrm>
            <a:off x="5760720" y="1371600"/>
            <a:ext cx="2926080" cy="2743200"/>
          </a:xfrm>
          <a:prstGeom prst="roundRect">
            <a:avLst>
              <a:gd fmla="val 2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6"/>
          <p:cNvSpPr txBox="1"/>
          <p:nvPr/>
        </p:nvSpPr>
        <p:spPr>
          <a:xfrm>
            <a:off x="5989320" y="160020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Part 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6"/>
          <p:cNvSpPr txBox="1"/>
          <p:nvPr/>
        </p:nvSpPr>
        <p:spPr>
          <a:xfrm>
            <a:off x="5989320" y="2011680"/>
            <a:ext cx="24688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Using the blueprint to drive development with AI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6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7"/>
          <p:cNvSpPr txBox="1"/>
          <p:nvPr>
            <p:ph type="title"/>
          </p:nvPr>
        </p:nvSpPr>
        <p:spPr>
          <a:xfrm>
            <a:off x="640080" y="1188720"/>
            <a:ext cx="78638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mbria"/>
              <a:buNone/>
            </a:pPr>
            <a:r>
              <a:rPr b="1" lang="en-US" sz="4400">
                <a:solidFill>
                  <a:schemeClr val="lt1"/>
                </a:solidFill>
              </a:rPr>
              <a:t>Questions?</a:t>
            </a:r>
            <a:endParaRPr sz="4400"/>
          </a:p>
        </p:txBody>
      </p:sp>
      <p:sp>
        <p:nvSpPr>
          <p:cNvPr id="357" name="Google Shape;357;p17"/>
          <p:cNvSpPr txBox="1"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Steve Moody  |  Portland Data + AI Meetup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8" name="Google Shape;358;p17" title="url_qrcodecreator.com_19_23_3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5025" y="2560325"/>
            <a:ext cx="1311424" cy="1311424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7"/>
          <p:cNvSpPr txBox="1"/>
          <p:nvPr/>
        </p:nvSpPr>
        <p:spPr>
          <a:xfrm>
            <a:off x="640068" y="2923800"/>
            <a:ext cx="2787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Link to demo </a:t>
            </a:r>
            <a:r>
              <a:rPr lang="en-US" sz="15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and </a:t>
            </a:r>
            <a:r>
              <a:rPr lang="en-US" sz="15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PowerPoint</a:t>
            </a:r>
            <a:endParaRPr sz="150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kills Based RE">
  <a:themeElements>
    <a:clrScheme name="Skills Based RE">
      <a:dk1>
        <a:srgbClr val="1F2933"/>
      </a:dk1>
      <a:lt1>
        <a:srgbClr val="FFFFFF"/>
      </a:lt1>
      <a:dk2>
        <a:srgbClr val="0B3C49"/>
      </a:dk2>
      <a:lt2>
        <a:srgbClr val="EAF2F2"/>
      </a:lt2>
      <a:accent1>
        <a:srgbClr val="0B3C49"/>
      </a:accent1>
      <a:accent2>
        <a:srgbClr val="F2A541"/>
      </a:accent2>
      <a:accent3>
        <a:srgbClr val="2A9D8F"/>
      </a:accent3>
      <a:accent4>
        <a:srgbClr val="7FB7BE"/>
      </a:accent4>
      <a:accent5>
        <a:srgbClr val="C8553D"/>
      </a:accent5>
      <a:accent6>
        <a:srgbClr val="6B7A8F"/>
      </a:accent6>
      <a:hlink>
        <a:srgbClr val="2A9D8F"/>
      </a:hlink>
      <a:folHlink>
        <a:srgbClr val="6B7A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kills Based RE">
  <a:themeElements>
    <a:clrScheme name="Skills Based RE">
      <a:dk1>
        <a:srgbClr val="1F2933"/>
      </a:dk1>
      <a:lt1>
        <a:srgbClr val="FFFFFF"/>
      </a:lt1>
      <a:dk2>
        <a:srgbClr val="0B3C49"/>
      </a:dk2>
      <a:lt2>
        <a:srgbClr val="EAF2F2"/>
      </a:lt2>
      <a:accent1>
        <a:srgbClr val="0B3C49"/>
      </a:accent1>
      <a:accent2>
        <a:srgbClr val="F2A541"/>
      </a:accent2>
      <a:accent3>
        <a:srgbClr val="2A9D8F"/>
      </a:accent3>
      <a:accent4>
        <a:srgbClr val="7FB7BE"/>
      </a:accent4>
      <a:accent5>
        <a:srgbClr val="C8553D"/>
      </a:accent5>
      <a:accent6>
        <a:srgbClr val="6B7A8F"/>
      </a:accent6>
      <a:hlink>
        <a:srgbClr val="2A9D8F"/>
      </a:hlink>
      <a:folHlink>
        <a:srgbClr val="6B7A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2026-10-13T18:03:45Z</dcterms:created>
  <dc:creator>Steve Moody</dc:creator>
</cp:coreProperties>
</file>