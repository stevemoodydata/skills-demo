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jnn6JCRpEbm97tclDSNNXikgD8A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customschemas.google.com/relationships/presentationmetadata" Target="metadata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(2 min total for slides 1-2.) Introduce yourself and role. Set expectations: this is part 1 of 2 - understanding the legacy system. Part 2 is using the blueprint to build.</a:t>
            </a:r>
            <a:endParaRPr/>
          </a:p>
        </p:txBody>
      </p:sp>
      <p:sp>
        <p:nvSpPr>
          <p:cNvPr id="22" name="Google Shape;22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Four parts, one demo in the middle. Tell them what they can steal: the skill-file pattern, the index, the documentation standard.</a:t>
            </a:r>
            <a:endParaRPr/>
          </a:p>
        </p:txBody>
      </p:sp>
      <p:sp>
        <p:nvSpPr>
          <p:cNvPr id="30" name="Google Shape;3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(~4 min for slides 3-4.) Land the scale. A .NET/Oracle system feeding market and energy data; the ETL logic lives in VB.NET services, not in documents.</a:t>
            </a:r>
            <a:endParaRPr/>
          </a:p>
        </p:txBody>
      </p:sp>
      <p:sp>
        <p:nvSpPr>
          <p:cNvPr id="58" name="Google Shape;58;p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Business rules buried in procedural code, no specs, no tests. Manual review is months of reading, inconsistent notes, and knowledge that stays in people's heads. Keep this short - ad hoc AI is the more interesting failure story.</a:t>
            </a:r>
            <a:endParaRPr/>
          </a:p>
        </p:txBody>
      </p:sp>
      <p:sp>
        <p:nvSpPr>
          <p:cNvPr id="75" name="Google Shape;7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(~4 min for slides 5-8.) Honest story: we started like everyone does. Each dev pointed Copilot at a service or proc with their own prompt. Felt fast; early results looked promising.</a:t>
            </a:r>
            <a:endParaRPr/>
          </a:p>
        </p:txBody>
      </p:sp>
      <p:sp>
        <p:nvSpPr>
          <p:cNvPr id="97" name="Google Shape;9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SWAP IN two real (sanitized) outputs for the same kind of procedure, side by side. These cards are illustrative. Light moment: everyone has seen vibe coding; this is vibe decoding. Highlight differences in structure, depth and terminology.</a:t>
            </a:r>
            <a:endParaRPr/>
          </a:p>
        </p:txBody>
      </p:sp>
      <p:sp>
        <p:nvSpPr>
          <p:cNvPr id="116" name="Google Shape;11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Add one rough number here if you have it: how long early attempts took, or how many different formats emerged.</a:t>
            </a:r>
            <a:endParaRPr/>
          </a:p>
        </p:txBody>
      </p:sp>
      <p:sp>
        <p:nvSpPr>
          <p:cNvPr id="130" name="Google Shape;13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is the bridge slide and the roadmap for the approach section. Each need maps to exactly one step. Reuse this graphic as the index during the demo.</a:t>
            </a:r>
            <a:endParaRPr/>
          </a:p>
        </p:txBody>
      </p:sp>
      <p:sp>
        <p:nvSpPr>
          <p:cNvPr id="155" name="Google Shape;15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(~5 min for slides 9-10.) The framing: AI reads, humans verify. The goal is a blueprint that can drive the build, not just notes. Tool is GitHub Copilot in VS Code.</a:t>
            </a:r>
            <a:endParaRPr/>
          </a:p>
        </p:txBody>
      </p:sp>
      <p:sp>
        <p:nvSpPr>
          <p:cNvPr id="177" name="Google Shape;17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Walk left to right. Index: why dumping 600K lines in a prompt fails, so we mapped services, procs and dependencies. Skill file: what to look for - business rules, data flows, side effects, edge cases; ignore boilerplate. Standard doc: one template for every service and proc. Humans stay in the loop at review.</a:t>
            </a:r>
            <a:endParaRPr/>
          </a:p>
        </p:txBody>
      </p:sp>
      <p:sp>
        <p:nvSpPr>
          <p:cNvPr id="191" name="Google Shape;19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(~7 min.) Switch to VS Code. Say clearly: the demo service is a stand-in, not the real code. Follow the run sheet. Fallbacks: pre-generated outputs in the outputs folder and a recorded run.</a:t>
            </a:r>
            <a:endParaRPr/>
          </a:p>
        </p:txBody>
      </p:sp>
      <p:sp>
        <p:nvSpPr>
          <p:cNvPr id="222" name="Google Shape;22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(~3 min for slides 12-13.) Docs became the spec for the Databricks build. Copilot used the blueprint to generate new code. Metadata-driven ingestion fed directly from the findings.</a:t>
            </a:r>
            <a:endParaRPr/>
          </a:p>
        </p:txBody>
      </p:sp>
      <p:sp>
        <p:nvSpPr>
          <p:cNvPr id="249" name="Google Shape;249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p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ADD REAL NUMBERS here if you have them (time to understand a service, review time, docs produced). Keep claims to what you can defend.</a:t>
            </a:r>
            <a:endParaRPr/>
          </a:p>
        </p:txBody>
      </p:sp>
      <p:sp>
        <p:nvSpPr>
          <p:cNvPr id="273" name="Google Shape;273;p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(~3 min for slides 14-15.) Use real examples from your migration here, not from the demo service. Be specific: one implicit rule it missed, one Oracle behavior it misread.</a:t>
            </a:r>
            <a:endParaRPr/>
          </a:p>
        </p:txBody>
      </p:sp>
      <p:sp>
        <p:nvSpPr>
          <p:cNvPr id="295" name="Google Shape;295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0" name="Google Shape;310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Tie back to the demo: the human check beat is exactly this. 'Tighten next time' - confirm this reflects what you would actually change; evidence citations on every claim is what the skills enforce.</a:t>
            </a:r>
            <a:endParaRPr/>
          </a:p>
        </p:txBody>
      </p:sp>
      <p:sp>
        <p:nvSpPr>
          <p:cNvPr id="311" name="Google Shape;311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2" name="Google Shape;332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(~2 min for slides 16-17.) Three things to try, then the Part 2 teaser: using the blueprint to drive development with AI.</a:t>
            </a:r>
            <a:endParaRPr/>
          </a:p>
        </p:txBody>
      </p:sp>
      <p:sp>
        <p:nvSpPr>
          <p:cNvPr id="333" name="Google Shape;333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4" name="Google Shape;354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Questions. Offer the demo kit structure (skills, index, standard) as reusable patterns, not the real artifacts.</a:t>
            </a:r>
            <a:endParaRPr/>
          </a:p>
        </p:txBody>
      </p:sp>
      <p:sp>
        <p:nvSpPr>
          <p:cNvPr id="355" name="Google Shape;355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RO">
  <p:cSld name="HERO">
    <p:bg>
      <p:bgPr>
        <a:solidFill>
          <a:schemeClr val="dk2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9"/>
          <p:cNvSpPr txBox="1"/>
          <p:nvPr>
            <p:ph type="title"/>
          </p:nvPr>
        </p:nvSpPr>
        <p:spPr>
          <a:xfrm>
            <a:off x="640080" y="1188720"/>
            <a:ext cx="78638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mbria"/>
              <a:buNone/>
              <a:defRPr b="1" i="0" sz="44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">
  <p:cSld name="CONTENT">
    <p:bg>
      <p:bgPr>
        <a:solidFill>
          <a:schemeClr val="lt1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0"/>
          <p:cNvSpPr txBox="1"/>
          <p:nvPr>
            <p:ph type="title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ambria"/>
              <a:buNone/>
              <a:defRPr b="1" i="0" sz="3000" u="none" cap="none" strike="noStrik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5" name="Google Shape;15;p20"/>
          <p:cNvSpPr txBox="1"/>
          <p:nvPr>
            <p:ph idx="12" type="sldNum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ARK">
  <p:cSld name="DARK">
    <p:bg>
      <p:bgPr>
        <a:solidFill>
          <a:schemeClr val="dk2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1"/>
          <p:cNvSpPr txBox="1"/>
          <p:nvPr>
            <p:ph type="title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mbria"/>
              <a:buNone/>
              <a:defRPr b="1" i="0" sz="30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/>
          <p:nvPr>
            <p:ph idx="12" type="sldNum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"/>
          <p:cNvSpPr txBox="1"/>
          <p:nvPr>
            <p:ph type="title"/>
          </p:nvPr>
        </p:nvSpPr>
        <p:spPr>
          <a:xfrm>
            <a:off x="419825" y="272600"/>
            <a:ext cx="8084100" cy="228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mbria"/>
              <a:buNone/>
            </a:pPr>
            <a:r>
              <a:rPr lang="en-US"/>
              <a:t>From Legacy Code to Blueprint</a:t>
            </a:r>
            <a:endParaRPr sz="3300"/>
          </a:p>
        </p:txBody>
      </p:sp>
      <p:sp>
        <p:nvSpPr>
          <p:cNvPr id="25" name="Google Shape;25;p1"/>
          <p:cNvSpPr txBox="1"/>
          <p:nvPr/>
        </p:nvSpPr>
        <p:spPr>
          <a:xfrm>
            <a:off x="640080" y="2743200"/>
            <a:ext cx="7315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Using AI skills to reverse engineer a .NET / Oracle system before migrating it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 txBox="1"/>
          <p:nvPr/>
        </p:nvSpPr>
        <p:spPr>
          <a:xfrm>
            <a:off x="640080" y="4206240"/>
            <a:ext cx="7863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Steve Moody  |  Portland Data + AI Meetup  |  Part 1 of a two-part migration series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"/>
          <p:cNvSpPr txBox="1"/>
          <p:nvPr>
            <p:ph type="title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2"/>
                </a:solidFill>
              </a:rPr>
              <a:t>What we'll cover</a:t>
            </a:r>
            <a:endParaRPr sz="3000"/>
          </a:p>
        </p:txBody>
      </p:sp>
      <p:sp>
        <p:nvSpPr>
          <p:cNvPr id="33" name="Google Shape;33;p2"/>
          <p:cNvSpPr/>
          <p:nvPr/>
        </p:nvSpPr>
        <p:spPr>
          <a:xfrm>
            <a:off x="457200" y="1463040"/>
            <a:ext cx="1920240" cy="2286000"/>
          </a:xfrm>
          <a:prstGeom prst="roundRect">
            <a:avLst>
              <a:gd fmla="val 381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640080" y="1645920"/>
            <a:ext cx="457200" cy="457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 txBox="1"/>
          <p:nvPr/>
        </p:nvSpPr>
        <p:spPr>
          <a:xfrm>
            <a:off x="640080" y="16459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 txBox="1"/>
          <p:nvPr/>
        </p:nvSpPr>
        <p:spPr>
          <a:xfrm>
            <a:off x="640080" y="228600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 txBox="1"/>
          <p:nvPr/>
        </p:nvSpPr>
        <p:spPr>
          <a:xfrm>
            <a:off x="640080" y="2697480"/>
            <a:ext cx="1554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legacy system nobody could explain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2542032" y="1463040"/>
            <a:ext cx="1920240" cy="2286000"/>
          </a:xfrm>
          <a:prstGeom prst="roundRect">
            <a:avLst>
              <a:gd fmla="val 381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2724912" y="1645920"/>
            <a:ext cx="457200" cy="457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 txBox="1"/>
          <p:nvPr/>
        </p:nvSpPr>
        <p:spPr>
          <a:xfrm>
            <a:off x="2724912" y="16459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 txBox="1"/>
          <p:nvPr/>
        </p:nvSpPr>
        <p:spPr>
          <a:xfrm>
            <a:off x="2724912" y="228600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The approach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 txBox="1"/>
          <p:nvPr/>
        </p:nvSpPr>
        <p:spPr>
          <a:xfrm>
            <a:off x="2724912" y="2697480"/>
            <a:ext cx="1554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ad hoc prompts to skills, an index and a standard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4626864" y="1463040"/>
            <a:ext cx="1920240" cy="2286000"/>
          </a:xfrm>
          <a:prstGeom prst="roundRect">
            <a:avLst>
              <a:gd fmla="val 381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4809744" y="1645920"/>
            <a:ext cx="457200" cy="457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 txBox="1"/>
          <p:nvPr/>
        </p:nvSpPr>
        <p:spPr>
          <a:xfrm>
            <a:off x="4809744" y="16459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 txBox="1"/>
          <p:nvPr/>
        </p:nvSpPr>
        <p:spPr>
          <a:xfrm>
            <a:off x="4809744" y="228600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The payoff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 txBox="1"/>
          <p:nvPr/>
        </p:nvSpPr>
        <p:spPr>
          <a:xfrm>
            <a:off x="4809744" y="2697480"/>
            <a:ext cx="1554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Documentation that became the build blueprint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6711696" y="1463040"/>
            <a:ext cx="1920240" cy="2286000"/>
          </a:xfrm>
          <a:prstGeom prst="roundRect">
            <a:avLst>
              <a:gd fmla="val 381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6894576" y="1645920"/>
            <a:ext cx="457200" cy="457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 txBox="1"/>
          <p:nvPr/>
        </p:nvSpPr>
        <p:spPr>
          <a:xfrm>
            <a:off x="6894576" y="16459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 txBox="1"/>
          <p:nvPr/>
        </p:nvSpPr>
        <p:spPr>
          <a:xfrm>
            <a:off x="6894576" y="228600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The lessons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 txBox="1"/>
          <p:nvPr/>
        </p:nvSpPr>
        <p:spPr>
          <a:xfrm>
            <a:off x="6894576" y="2697480"/>
            <a:ext cx="1554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Where the AI was wrong and how we caught it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Plus a live demo, and what you can reuse on your own migration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 txBox="1"/>
          <p:nvPr>
            <p:ph idx="4294967295" type="sldNum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"/>
          <p:cNvSpPr txBox="1"/>
          <p:nvPr>
            <p:ph type="title"/>
          </p:nvPr>
        </p:nvSpPr>
        <p:spPr>
          <a:xfrm>
            <a:off x="457200" y="274320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2"/>
                </a:solidFill>
              </a:rPr>
              <a:t>The starting point</a:t>
            </a:r>
            <a:endParaRPr sz="3000"/>
          </a:p>
        </p:txBody>
      </p:sp>
      <p:sp>
        <p:nvSpPr>
          <p:cNvPr id="61" name="Google Shape;61;p3"/>
          <p:cNvSpPr txBox="1"/>
          <p:nvPr/>
        </p:nvSpPr>
        <p:spPr>
          <a:xfrm>
            <a:off x="457200" y="11430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A .NET and Oracle system feeding energy data application and reporting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457200" y="1828800"/>
            <a:ext cx="2560200" cy="2872200"/>
          </a:xfrm>
          <a:prstGeom prst="roundRect">
            <a:avLst>
              <a:gd fmla="val 32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"/>
          <p:cNvSpPr txBox="1"/>
          <p:nvPr/>
        </p:nvSpPr>
        <p:spPr>
          <a:xfrm>
            <a:off x="640050" y="2011675"/>
            <a:ext cx="2194500" cy="1097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>
                <a:solidFill>
                  <a:srgbClr val="2A9D8F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1" i="0" sz="6000">
              <a:solidFill>
                <a:srgbClr val="2A9D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 txBox="1"/>
          <p:nvPr/>
        </p:nvSpPr>
        <p:spPr>
          <a:xfrm>
            <a:off x="640055" y="3108950"/>
            <a:ext cx="2194500" cy="1428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00">
                <a:solidFill>
                  <a:srgbClr val="0B3C49"/>
                </a:solidFill>
                <a:latin typeface="Calibri"/>
                <a:ea typeface="Calibri"/>
                <a:cs typeface="Calibri"/>
                <a:sym typeface="Calibri"/>
              </a:rPr>
              <a:t>VB.NET services holding:</a:t>
            </a:r>
            <a:endParaRPr i="0" sz="1600">
              <a:solidFill>
                <a:srgbClr val="0B3C4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400"/>
              </a:spcBef>
              <a:spcAft>
                <a:spcPts val="0"/>
              </a:spcAft>
              <a:buClr>
                <a:srgbClr val="1F2933"/>
              </a:buClr>
              <a:buSzPts val="1400"/>
              <a:buFont typeface="Calibri"/>
              <a:buChar char="●"/>
            </a:pPr>
            <a:r>
              <a:rPr b="0" i="0" lang="en-US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ETL logic</a:t>
            </a:r>
            <a:endParaRPr b="0" i="0">
              <a:solidFill>
                <a:srgbClr val="1F29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300"/>
              </a:spcBef>
              <a:spcAft>
                <a:spcPts val="0"/>
              </a:spcAft>
              <a:buClr>
                <a:srgbClr val="1F2933"/>
              </a:buClr>
              <a:buSzPts val="1400"/>
              <a:buFont typeface="Calibri"/>
              <a:buChar char="●"/>
            </a:pPr>
            <a:r>
              <a:rPr b="0" i="0" lang="en-US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Orchestration </a:t>
            </a:r>
            <a:r>
              <a:rPr lang="en-US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0" i="0" lang="en-US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schedules &amp; intervals)</a:t>
            </a:r>
            <a:endParaRPr b="0" i="0">
              <a:solidFill>
                <a:srgbClr val="1F29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300"/>
              </a:spcBef>
              <a:spcAft>
                <a:spcPts val="0"/>
              </a:spcAft>
              <a:buClr>
                <a:srgbClr val="1F2933"/>
              </a:buClr>
              <a:buSzPts val="1400"/>
              <a:buFont typeface="Calibri"/>
              <a:buChar char="●"/>
            </a:pPr>
            <a:r>
              <a:rPr b="0" i="0" lang="en-US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Authorization methods &amp; cert details</a:t>
            </a:r>
            <a:endParaRPr b="0" i="0">
              <a:solidFill>
                <a:srgbClr val="1F29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3291850" y="1828800"/>
            <a:ext cx="2560200" cy="2872200"/>
          </a:xfrm>
          <a:prstGeom prst="roundRect">
            <a:avLst>
              <a:gd fmla="val 32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 txBox="1"/>
          <p:nvPr/>
        </p:nvSpPr>
        <p:spPr>
          <a:xfrm>
            <a:off x="3474720" y="2011680"/>
            <a:ext cx="21945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libri"/>
              <a:buNone/>
            </a:pPr>
            <a:r>
              <a:rPr b="1" i="0" lang="en-US" sz="60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600K+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 txBox="1"/>
          <p:nvPr/>
        </p:nvSpPr>
        <p:spPr>
          <a:xfrm>
            <a:off x="3474720" y="3200400"/>
            <a:ext cx="2194500" cy="731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Lines of undocumented code</a:t>
            </a:r>
            <a:r>
              <a:rPr lang="en-US" sz="1600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, some</a:t>
            </a:r>
            <a:r>
              <a:rPr b="0" i="0" lang="en-US" sz="1600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 redundant, but all requiring review</a:t>
            </a:r>
            <a:endParaRPr b="0" i="0" sz="1600">
              <a:solidFill>
                <a:srgbClr val="1F29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6126475" y="1828800"/>
            <a:ext cx="2560200" cy="2872200"/>
          </a:xfrm>
          <a:prstGeom prst="roundRect">
            <a:avLst>
              <a:gd fmla="val 32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"/>
          <p:cNvSpPr txBox="1"/>
          <p:nvPr/>
        </p:nvSpPr>
        <p:spPr>
          <a:xfrm>
            <a:off x="6309360" y="2011680"/>
            <a:ext cx="21945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libri"/>
              <a:buNone/>
            </a:pPr>
            <a:r>
              <a:rPr b="1" i="0" lang="en-US" sz="60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100+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 txBox="1"/>
          <p:nvPr/>
        </p:nvSpPr>
        <p:spPr>
          <a:xfrm>
            <a:off x="6309360" y="3200400"/>
            <a:ext cx="21945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Oracle stored procedures 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containing</a:t>
            </a: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more business logic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 txBox="1"/>
          <p:nvPr>
            <p:ph idx="4294967295" type="sldNum"/>
          </p:nvPr>
        </p:nvSpPr>
        <p:spPr>
          <a:xfrm>
            <a:off x="8412480" y="475488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"/>
          <p:cNvSpPr txBox="1"/>
          <p:nvPr>
            <p:ph type="title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2"/>
                </a:solidFill>
              </a:rPr>
              <a:t>You can't migrate what you don't understand</a:t>
            </a:r>
            <a:endParaRPr sz="3000"/>
          </a:p>
        </p:txBody>
      </p:sp>
      <p:sp>
        <p:nvSpPr>
          <p:cNvPr id="78" name="Google Shape;78;p4"/>
          <p:cNvSpPr/>
          <p:nvPr/>
        </p:nvSpPr>
        <p:spPr>
          <a:xfrm>
            <a:off x="457200" y="1371600"/>
            <a:ext cx="8229600" cy="914400"/>
          </a:xfrm>
          <a:prstGeom prst="roundRect">
            <a:avLst>
              <a:gd fmla="val 8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640080" y="1600200"/>
            <a:ext cx="457200" cy="4572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4"/>
          <p:cNvSpPr txBox="1"/>
          <p:nvPr/>
        </p:nvSpPr>
        <p:spPr>
          <a:xfrm>
            <a:off x="640080" y="1600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 txBox="1"/>
          <p:nvPr/>
        </p:nvSpPr>
        <p:spPr>
          <a:xfrm>
            <a:off x="1325880" y="1481328"/>
            <a:ext cx="7132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Rules buried in code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 txBox="1"/>
          <p:nvPr/>
        </p:nvSpPr>
        <p:spPr>
          <a:xfrm>
            <a:off x="1325880" y="1828800"/>
            <a:ext cx="7132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Business logic hides in procedural VB.NET and PL/SQL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457200" y="2468880"/>
            <a:ext cx="8229600" cy="914400"/>
          </a:xfrm>
          <a:prstGeom prst="roundRect">
            <a:avLst>
              <a:gd fmla="val 8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4"/>
          <p:cNvSpPr/>
          <p:nvPr/>
        </p:nvSpPr>
        <p:spPr>
          <a:xfrm>
            <a:off x="640080" y="2697480"/>
            <a:ext cx="457200" cy="4572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4"/>
          <p:cNvSpPr txBox="1"/>
          <p:nvPr/>
        </p:nvSpPr>
        <p:spPr>
          <a:xfrm>
            <a:off x="640080" y="26974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 txBox="1"/>
          <p:nvPr/>
        </p:nvSpPr>
        <p:spPr>
          <a:xfrm>
            <a:off x="1325880" y="2578608"/>
            <a:ext cx="7132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No safety net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 txBox="1"/>
          <p:nvPr/>
        </p:nvSpPr>
        <p:spPr>
          <a:xfrm>
            <a:off x="1325880" y="2926080"/>
            <a:ext cx="7132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specs, no tests, little documentation, v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ry little 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institutional knowledge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457200" y="3566160"/>
            <a:ext cx="8229600" cy="914400"/>
          </a:xfrm>
          <a:prstGeom prst="roundRect">
            <a:avLst>
              <a:gd fmla="val 8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4"/>
          <p:cNvSpPr/>
          <p:nvPr/>
        </p:nvSpPr>
        <p:spPr>
          <a:xfrm>
            <a:off x="640080" y="3794760"/>
            <a:ext cx="457200" cy="4572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"/>
          <p:cNvSpPr txBox="1"/>
          <p:nvPr/>
        </p:nvSpPr>
        <p:spPr>
          <a:xfrm>
            <a:off x="640080" y="37947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 txBox="1"/>
          <p:nvPr/>
        </p:nvSpPr>
        <p:spPr>
          <a:xfrm>
            <a:off x="1325880" y="3675888"/>
            <a:ext cx="7132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Manual review doesn't scale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 txBox="1"/>
          <p:nvPr/>
        </p:nvSpPr>
        <p:spPr>
          <a:xfrm>
            <a:off x="1325880" y="4023360"/>
            <a:ext cx="7132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Months of reading, notes that differ person to person, knowledge stuck in heads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 txBox="1"/>
          <p:nvPr>
            <p:ph idx="4294967295" type="sldNum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"/>
          <p:cNvSpPr txBox="1"/>
          <p:nvPr>
            <p:ph type="title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2"/>
                </a:solidFill>
              </a:rPr>
              <a:t>Where we started: ad hoc prompts</a:t>
            </a:r>
            <a:endParaRPr sz="3000"/>
          </a:p>
        </p:txBody>
      </p:sp>
      <p:sp>
        <p:nvSpPr>
          <p:cNvPr id="100" name="Google Shape;100;p5"/>
          <p:cNvSpPr txBox="1"/>
          <p:nvPr/>
        </p:nvSpPr>
        <p:spPr>
          <a:xfrm>
            <a:off x="457200" y="1463040"/>
            <a:ext cx="402336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dev pointed Copilot at a service or procedure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Shared goal: understand the system well enough to migrate it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Felt fast, and early results looked promising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4846320" y="1371600"/>
            <a:ext cx="1554480" cy="640080"/>
          </a:xfrm>
          <a:prstGeom prst="roundRect">
            <a:avLst>
              <a:gd fmla="val 1142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"/>
          <p:cNvSpPr txBox="1"/>
          <p:nvPr/>
        </p:nvSpPr>
        <p:spPr>
          <a:xfrm>
            <a:off x="4846320" y="1371600"/>
            <a:ext cx="1554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Dev A prompt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6492240" y="1554480"/>
            <a:ext cx="457200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"/>
          <p:cNvSpPr/>
          <p:nvPr/>
        </p:nvSpPr>
        <p:spPr>
          <a:xfrm>
            <a:off x="4846320" y="2286000"/>
            <a:ext cx="1554480" cy="640080"/>
          </a:xfrm>
          <a:prstGeom prst="roundRect">
            <a:avLst>
              <a:gd fmla="val 1142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"/>
          <p:cNvSpPr txBox="1"/>
          <p:nvPr/>
        </p:nvSpPr>
        <p:spPr>
          <a:xfrm>
            <a:off x="4846320" y="2286000"/>
            <a:ext cx="1554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Dev B prompt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6492240" y="2468880"/>
            <a:ext cx="457200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"/>
          <p:cNvSpPr/>
          <p:nvPr/>
        </p:nvSpPr>
        <p:spPr>
          <a:xfrm>
            <a:off x="4846320" y="3200400"/>
            <a:ext cx="1554480" cy="640080"/>
          </a:xfrm>
          <a:prstGeom prst="roundRect">
            <a:avLst>
              <a:gd fmla="val 1142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"/>
          <p:cNvSpPr txBox="1"/>
          <p:nvPr/>
        </p:nvSpPr>
        <p:spPr>
          <a:xfrm>
            <a:off x="4846320" y="3200400"/>
            <a:ext cx="1554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Dev C prompt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6492240" y="3383280"/>
            <a:ext cx="457200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"/>
          <p:cNvSpPr/>
          <p:nvPr/>
        </p:nvSpPr>
        <p:spPr>
          <a:xfrm>
            <a:off x="7040880" y="1737360"/>
            <a:ext cx="1645920" cy="1645920"/>
          </a:xfrm>
          <a:prstGeom prst="roundRect">
            <a:avLst>
              <a:gd fmla="val 4444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"/>
          <p:cNvSpPr txBox="1"/>
          <p:nvPr/>
        </p:nvSpPr>
        <p:spPr>
          <a:xfrm>
            <a:off x="7040880" y="1737360"/>
            <a:ext cx="164592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Same legacy </a:t>
            </a: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codebase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 txBox="1"/>
          <p:nvPr>
            <p:ph idx="4294967295" type="sldNum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"/>
          <p:cNvSpPr txBox="1"/>
          <p:nvPr>
            <p:ph type="title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2"/>
                </a:solidFill>
              </a:rPr>
              <a:t>"Vibe decoding" in practice</a:t>
            </a:r>
            <a:endParaRPr sz="3000"/>
          </a:p>
        </p:txBody>
      </p:sp>
      <p:sp>
        <p:nvSpPr>
          <p:cNvPr id="119" name="Google Shape;119;p6"/>
          <p:cNvSpPr/>
          <p:nvPr/>
        </p:nvSpPr>
        <p:spPr>
          <a:xfrm>
            <a:off x="457200" y="1371600"/>
            <a:ext cx="4023360" cy="2651760"/>
          </a:xfrm>
          <a:prstGeom prst="roundRect">
            <a:avLst>
              <a:gd fmla="val 275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"/>
          <p:cNvSpPr txBox="1"/>
          <p:nvPr/>
        </p:nvSpPr>
        <p:spPr>
          <a:xfrm>
            <a:off x="685800" y="155448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Dev A's output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 txBox="1"/>
          <p:nvPr/>
        </p:nvSpPr>
        <p:spPr>
          <a:xfrm>
            <a:off x="685800" y="2057400"/>
            <a:ext cx="36738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a scheduled data-ingestion service with two pipelines: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03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500"/>
              <a:buChar char="●"/>
            </a:pP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Weather pipeline: HTTP API → JSON parsing → unit and time conversion → Oracle stored procedure.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0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00"/>
              <a:buChar char="●"/>
            </a:pP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Meter pipeline: CSV files → data parsing → Oracle stored procedure → file archive → stale-reading purge.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VB.NET code controls orchestration, transformation, and procedure calls. The Oracle packages control the actual database operations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4663440" y="1371600"/>
            <a:ext cx="4023360" cy="2651760"/>
          </a:xfrm>
          <a:prstGeom prst="roundRect">
            <a:avLst>
              <a:gd fmla="val 275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"/>
          <p:cNvSpPr txBox="1"/>
          <p:nvPr/>
        </p:nvSpPr>
        <p:spPr>
          <a:xfrm>
            <a:off x="4892040" y="155448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Dev B's output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 txBox="1"/>
          <p:nvPr/>
        </p:nvSpPr>
        <p:spPr>
          <a:xfrm>
            <a:off x="4892050" y="1931675"/>
            <a:ext cx="3566100" cy="19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900">
                <a:latin typeface="Calibri"/>
                <a:ea typeface="Calibri"/>
                <a:cs typeface="Calibri"/>
                <a:sym typeface="Calibri"/>
              </a:rPr>
              <a:t>Weather observations:</a:t>
            </a:r>
            <a:r>
              <a:rPr lang="en-US" sz="9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WeatherClient.vb</a:t>
            </a:r>
            <a:r>
              <a:rPr lang="en-US" sz="900">
                <a:latin typeface="Calibri"/>
                <a:ea typeface="Calibri"/>
                <a:cs typeface="Calibri"/>
                <a:sym typeface="Calibri"/>
              </a:rPr>
              <a:t> polls an HTTP API every 15 minutes for a list of stations (STN001 to STN003). It converts Fahrenheit to Celsius and mph to m/s, and converts UTC timestamps to Central time.</a:t>
            </a:r>
            <a:br>
              <a:rPr lang="en-US" sz="900"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900">
                <a:latin typeface="Calibri"/>
                <a:ea typeface="Calibri"/>
                <a:cs typeface="Calibri"/>
                <a:sym typeface="Calibri"/>
              </a:rPr>
              <a:t>Meter readings:</a:t>
            </a:r>
            <a:r>
              <a:rPr lang="en-US" sz="9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MeterFileProcessor.vb</a:t>
            </a:r>
            <a:r>
              <a:rPr lang="en-US" sz="900">
                <a:latin typeface="Calibri"/>
                <a:ea typeface="Calibri"/>
                <a:cs typeface="Calibri"/>
                <a:sym typeface="Calibri"/>
              </a:rPr>
              <a:t> checks a network share every 60 minutes for CSV files, parses them into kWh readings, and moves each file to an archive folder.</a:t>
            </a:r>
            <a:br>
              <a:rPr lang="en-US" sz="900"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900">
                <a:latin typeface="Calibri"/>
                <a:ea typeface="Calibri"/>
                <a:cs typeface="Calibri"/>
                <a:sym typeface="Calibri"/>
              </a:rPr>
              <a:t>Orchestration:</a:t>
            </a:r>
            <a:r>
              <a:rPr lang="en-US" sz="9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WeatherMeterService.vb</a:t>
            </a:r>
            <a:r>
              <a:rPr lang="en-US" sz="900">
                <a:latin typeface="Calibri"/>
                <a:ea typeface="Calibri"/>
                <a:cs typeface="Calibri"/>
                <a:sym typeface="Calibri"/>
              </a:rPr>
              <a:t> is the Windows service itself. It runs two timers, one per feed, and after each meter run it purges readings older than 30 days.</a:t>
            </a:r>
            <a:br>
              <a:rPr lang="en-US" sz="900"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900">
                <a:latin typeface="Calibri"/>
                <a:ea typeface="Calibri"/>
                <a:cs typeface="Calibri"/>
                <a:sym typeface="Calibri"/>
              </a:rPr>
              <a:t>Database access:</a:t>
            </a:r>
            <a:r>
              <a:rPr lang="en-US" sz="9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DemoDb.vb</a:t>
            </a:r>
            <a:r>
              <a:rPr lang="en-US" sz="900">
                <a:latin typeface="Calibri"/>
                <a:ea typeface="Calibri"/>
                <a:cs typeface="Calibri"/>
                <a:sym typeface="Calibri"/>
              </a:rPr>
              <a:t> wraps the Oracle stored-procedure calls (insert observation, insert meter reading, purge).</a:t>
            </a:r>
            <a:br>
              <a:rPr lang="en-US" sz="900"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900">
                <a:latin typeface="Calibri"/>
                <a:ea typeface="Calibri"/>
                <a:cs typeface="Calibri"/>
                <a:sym typeface="Calibri"/>
              </a:rPr>
              <a:t>Config:</a:t>
            </a:r>
            <a:r>
              <a:rPr lang="en-US" sz="9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App.config</a:t>
            </a:r>
            <a:r>
              <a:rPr lang="en-US" sz="900">
                <a:latin typeface="Calibri"/>
                <a:ea typeface="Calibri"/>
                <a:cs typeface="Calibri"/>
                <a:sym typeface="Calibri"/>
              </a:rPr>
              <a:t> holds the polling intervals, API URL and key, file share paths, and the Oracle connection string.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i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 txBox="1"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Same kind of procedure. Two different shapes of answer.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 txBox="1"/>
          <p:nvPr>
            <p:ph idx="4294967295" type="sldNum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"/>
          <p:cNvSpPr txBox="1"/>
          <p:nvPr>
            <p:ph type="title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2"/>
                </a:solidFill>
              </a:rPr>
              <a:t>Where it broke down</a:t>
            </a:r>
            <a:endParaRPr sz="3000"/>
          </a:p>
        </p:txBody>
      </p:sp>
      <p:sp>
        <p:nvSpPr>
          <p:cNvPr id="133" name="Google Shape;133;p7"/>
          <p:cNvSpPr/>
          <p:nvPr/>
        </p:nvSpPr>
        <p:spPr>
          <a:xfrm>
            <a:off x="457200" y="1371600"/>
            <a:ext cx="2651760" cy="1554480"/>
          </a:xfrm>
          <a:prstGeom prst="roundRect">
            <a:avLst>
              <a:gd fmla="val 470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"/>
          <p:cNvSpPr txBox="1"/>
          <p:nvPr/>
        </p:nvSpPr>
        <p:spPr>
          <a:xfrm>
            <a:off x="640080" y="155448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Inconsistent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 txBox="1"/>
          <p:nvPr/>
        </p:nvSpPr>
        <p:spPr>
          <a:xfrm>
            <a:off x="640080" y="201168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Different structure, depth and terminology per dev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3291840" y="1371600"/>
            <a:ext cx="2651760" cy="1554480"/>
          </a:xfrm>
          <a:prstGeom prst="roundRect">
            <a:avLst>
              <a:gd fmla="val 470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7"/>
          <p:cNvSpPr txBox="1"/>
          <p:nvPr/>
        </p:nvSpPr>
        <p:spPr>
          <a:xfrm>
            <a:off x="3474720" y="155448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Slow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 txBox="1"/>
          <p:nvPr/>
        </p:nvSpPr>
        <p:spPr>
          <a:xfrm>
            <a:off x="3474720" y="201168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Everyone rediscovering the same prompt fixes and context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6126480" y="1371600"/>
            <a:ext cx="2651760" cy="1554480"/>
          </a:xfrm>
          <a:prstGeom prst="roundRect">
            <a:avLst>
              <a:gd fmla="val 470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"/>
          <p:cNvSpPr txBox="1"/>
          <p:nvPr/>
        </p:nvSpPr>
        <p:spPr>
          <a:xfrm>
            <a:off x="6309360" y="155448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Hard to combine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6309360" y="201168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Docs couldn't be compared, searched or fed downstream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457200" y="3108960"/>
            <a:ext cx="2651760" cy="1554480"/>
          </a:xfrm>
          <a:prstGeom prst="roundRect">
            <a:avLst>
              <a:gd fmla="val 470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"/>
          <p:cNvSpPr txBox="1"/>
          <p:nvPr/>
        </p:nvSpPr>
        <p:spPr>
          <a:xfrm>
            <a:off x="640080" y="329184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Hard to trust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 txBox="1"/>
          <p:nvPr/>
        </p:nvSpPr>
        <p:spPr>
          <a:xfrm>
            <a:off x="640080" y="374904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shared definition of "done" or a good doc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3291840" y="3108960"/>
            <a:ext cx="2651760" cy="1554480"/>
          </a:xfrm>
          <a:prstGeom prst="roundRect">
            <a:avLst>
              <a:gd fmla="val 470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7"/>
          <p:cNvSpPr txBox="1"/>
          <p:nvPr/>
        </p:nvSpPr>
        <p:spPr>
          <a:xfrm>
            <a:off x="3474720" y="329184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Redundant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 txBox="1"/>
          <p:nvPr/>
        </p:nvSpPr>
        <p:spPr>
          <a:xfrm>
            <a:off x="3474720" y="374904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Shared components analyzed again by different people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 txBox="1"/>
          <p:nvPr>
            <p:ph idx="4294967295" type="sldNum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6126465" y="3108911"/>
            <a:ext cx="2651700" cy="1554600"/>
          </a:xfrm>
          <a:prstGeom prst="roundRect">
            <a:avLst>
              <a:gd fmla="val 470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7"/>
          <p:cNvSpPr txBox="1"/>
          <p:nvPr/>
        </p:nvSpPr>
        <p:spPr>
          <a:xfrm>
            <a:off x="6309370" y="3246140"/>
            <a:ext cx="2286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Costly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 txBox="1"/>
          <p:nvPr/>
        </p:nvSpPr>
        <p:spPr>
          <a:xfrm>
            <a:off x="6309370" y="3703340"/>
            <a:ext cx="22860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Token usage is high when everyone is reading all of the code all of the time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"/>
          <p:cNvSpPr txBox="1"/>
          <p:nvPr>
            <p:ph type="title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2"/>
                </a:solidFill>
              </a:rPr>
              <a:t>What we needed instead</a:t>
            </a:r>
            <a:endParaRPr sz="3000"/>
          </a:p>
        </p:txBody>
      </p:sp>
      <p:sp>
        <p:nvSpPr>
          <p:cNvPr id="158" name="Google Shape;158;p8"/>
          <p:cNvSpPr/>
          <p:nvPr/>
        </p:nvSpPr>
        <p:spPr>
          <a:xfrm>
            <a:off x="457200" y="1371600"/>
            <a:ext cx="4754880" cy="914400"/>
          </a:xfrm>
          <a:prstGeom prst="roundRect">
            <a:avLst>
              <a:gd fmla="val 8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8"/>
          <p:cNvSpPr txBox="1"/>
          <p:nvPr/>
        </p:nvSpPr>
        <p:spPr>
          <a:xfrm>
            <a:off x="685800" y="1371600"/>
            <a:ext cx="42976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shared way of telling the AI what to look for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5349240" y="1691640"/>
            <a:ext cx="731520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8"/>
          <p:cNvSpPr/>
          <p:nvPr/>
        </p:nvSpPr>
        <p:spPr>
          <a:xfrm>
            <a:off x="6217920" y="1371600"/>
            <a:ext cx="2468880" cy="914400"/>
          </a:xfrm>
          <a:prstGeom prst="roundRect">
            <a:avLst>
              <a:gd fmla="val 8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8"/>
          <p:cNvSpPr txBox="1"/>
          <p:nvPr/>
        </p:nvSpPr>
        <p:spPr>
          <a:xfrm>
            <a:off x="6217920" y="1371600"/>
            <a:ext cx="24688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Skill files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457200" y="2468880"/>
            <a:ext cx="4754880" cy="914400"/>
          </a:xfrm>
          <a:prstGeom prst="roundRect">
            <a:avLst>
              <a:gd fmla="val 8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"/>
          <p:cNvSpPr txBox="1"/>
          <p:nvPr/>
        </p:nvSpPr>
        <p:spPr>
          <a:xfrm>
            <a:off x="685800" y="2468880"/>
            <a:ext cx="42976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navigable map so context isn't rebuilt every time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5349240" y="2788920"/>
            <a:ext cx="731520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8"/>
          <p:cNvSpPr/>
          <p:nvPr/>
        </p:nvSpPr>
        <p:spPr>
          <a:xfrm>
            <a:off x="6217920" y="2468880"/>
            <a:ext cx="2468880" cy="914400"/>
          </a:xfrm>
          <a:prstGeom prst="roundRect">
            <a:avLst>
              <a:gd fmla="val 8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8"/>
          <p:cNvSpPr txBox="1"/>
          <p:nvPr/>
        </p:nvSpPr>
        <p:spPr>
          <a:xfrm>
            <a:off x="6217920" y="2468880"/>
            <a:ext cx="24688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 codebase index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457200" y="3566160"/>
            <a:ext cx="4754880" cy="914400"/>
          </a:xfrm>
          <a:prstGeom prst="roundRect">
            <a:avLst>
              <a:gd fmla="val 8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8"/>
          <p:cNvSpPr txBox="1"/>
          <p:nvPr/>
        </p:nvSpPr>
        <p:spPr>
          <a:xfrm>
            <a:off x="685800" y="3566160"/>
            <a:ext cx="42976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 set of documentation formats everyone writes to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5349240" y="3886200"/>
            <a:ext cx="731520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8"/>
          <p:cNvSpPr/>
          <p:nvPr/>
        </p:nvSpPr>
        <p:spPr>
          <a:xfrm>
            <a:off x="6217920" y="3566160"/>
            <a:ext cx="2468880" cy="914400"/>
          </a:xfrm>
          <a:prstGeom prst="roundRect">
            <a:avLst>
              <a:gd fmla="val 8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8"/>
          <p:cNvSpPr txBox="1"/>
          <p:nvPr/>
        </p:nvSpPr>
        <p:spPr>
          <a:xfrm>
            <a:off x="6217920" y="3566160"/>
            <a:ext cx="24688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Documentation standards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 txBox="1"/>
          <p:nvPr>
            <p:ph idx="4294967295" type="sldNum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9"/>
          <p:cNvSpPr txBox="1"/>
          <p:nvPr>
            <p:ph type="title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2"/>
                </a:solidFill>
              </a:rPr>
              <a:t>The idea: make the code explain itself</a:t>
            </a:r>
            <a:endParaRPr sz="3000"/>
          </a:p>
        </p:txBody>
      </p:sp>
      <p:sp>
        <p:nvSpPr>
          <p:cNvPr id="180" name="Google Shape;180;p9"/>
          <p:cNvSpPr/>
          <p:nvPr/>
        </p:nvSpPr>
        <p:spPr>
          <a:xfrm>
            <a:off x="457200" y="1371600"/>
            <a:ext cx="4023360" cy="2011680"/>
          </a:xfrm>
          <a:prstGeom prst="roundRect">
            <a:avLst>
              <a:gd fmla="val 3636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9"/>
          <p:cNvSpPr txBox="1"/>
          <p:nvPr/>
        </p:nvSpPr>
        <p:spPr>
          <a:xfrm>
            <a:off x="731520" y="160020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AI reads the code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9"/>
          <p:cNvSpPr txBox="1"/>
          <p:nvPr/>
        </p:nvSpPr>
        <p:spPr>
          <a:xfrm>
            <a:off x="731520" y="2194560"/>
            <a:ext cx="3474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Fast, tireless, consistent when told exactly what to look for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4663440" y="1371600"/>
            <a:ext cx="4023360" cy="2011680"/>
          </a:xfrm>
          <a:prstGeom prst="roundRect">
            <a:avLst>
              <a:gd fmla="val 3636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9"/>
          <p:cNvSpPr txBox="1"/>
          <p:nvPr/>
        </p:nvSpPr>
        <p:spPr>
          <a:xfrm>
            <a:off x="4937760" y="160020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Humans verify it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 txBox="1"/>
          <p:nvPr/>
        </p:nvSpPr>
        <p:spPr>
          <a:xfrm>
            <a:off x="4937760" y="2194560"/>
            <a:ext cx="3474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Check claims against evidence, catch what the AI can't see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9"/>
          <p:cNvSpPr txBox="1"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Goal: a blueprint that can drive the build, not just notes.  Tool: GitHub Copilot in VS Code.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 txBox="1"/>
          <p:nvPr>
            <p:ph idx="4294967295" type="sldNum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0"/>
          <p:cNvSpPr txBox="1"/>
          <p:nvPr>
            <p:ph type="title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2"/>
                </a:solidFill>
              </a:rPr>
              <a:t>The workflow, end to end</a:t>
            </a:r>
            <a:endParaRPr sz="3000"/>
          </a:p>
        </p:txBody>
      </p:sp>
      <p:sp>
        <p:nvSpPr>
          <p:cNvPr id="194" name="Google Shape;194;p10"/>
          <p:cNvSpPr/>
          <p:nvPr/>
        </p:nvSpPr>
        <p:spPr>
          <a:xfrm>
            <a:off x="457200" y="1737360"/>
            <a:ext cx="1188720" cy="914400"/>
          </a:xfrm>
          <a:prstGeom prst="roundRect">
            <a:avLst>
              <a:gd fmla="val 8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0"/>
          <p:cNvSpPr txBox="1"/>
          <p:nvPr/>
        </p:nvSpPr>
        <p:spPr>
          <a:xfrm>
            <a:off x="457200" y="1737360"/>
            <a:ext cx="1188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Code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0"/>
          <p:cNvSpPr txBox="1"/>
          <p:nvPr/>
        </p:nvSpPr>
        <p:spPr>
          <a:xfrm>
            <a:off x="457200" y="2788920"/>
            <a:ext cx="1188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VB.NET and Oracle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0"/>
          <p:cNvSpPr/>
          <p:nvPr/>
        </p:nvSpPr>
        <p:spPr>
          <a:xfrm>
            <a:off x="1673352" y="2103120"/>
            <a:ext cx="128016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0"/>
          <p:cNvSpPr/>
          <p:nvPr/>
        </p:nvSpPr>
        <p:spPr>
          <a:xfrm>
            <a:off x="1828800" y="1737360"/>
            <a:ext cx="1188720" cy="914400"/>
          </a:xfrm>
          <a:prstGeom prst="roundRect">
            <a:avLst>
              <a:gd fmla="val 8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0"/>
          <p:cNvSpPr txBox="1"/>
          <p:nvPr/>
        </p:nvSpPr>
        <p:spPr>
          <a:xfrm>
            <a:off x="1828800" y="1737360"/>
            <a:ext cx="1188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Index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0"/>
          <p:cNvSpPr txBox="1"/>
          <p:nvPr/>
        </p:nvSpPr>
        <p:spPr>
          <a:xfrm>
            <a:off x="1828800" y="2788920"/>
            <a:ext cx="1188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Services, procs, dependencies</a:t>
            </a:r>
            <a:b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600k lines of code to 3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line inde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 file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0"/>
          <p:cNvSpPr/>
          <p:nvPr/>
        </p:nvSpPr>
        <p:spPr>
          <a:xfrm>
            <a:off x="3044952" y="2103120"/>
            <a:ext cx="128016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0"/>
          <p:cNvSpPr/>
          <p:nvPr/>
        </p:nvSpPr>
        <p:spPr>
          <a:xfrm>
            <a:off x="3200400" y="1737360"/>
            <a:ext cx="1188720" cy="914400"/>
          </a:xfrm>
          <a:prstGeom prst="roundRect">
            <a:avLst>
              <a:gd fmla="val 8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0"/>
          <p:cNvSpPr txBox="1"/>
          <p:nvPr/>
        </p:nvSpPr>
        <p:spPr>
          <a:xfrm>
            <a:off x="3200400" y="1737360"/>
            <a:ext cx="1188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Skill files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0"/>
          <p:cNvSpPr txBox="1"/>
          <p:nvPr/>
        </p:nvSpPr>
        <p:spPr>
          <a:xfrm>
            <a:off x="3200400" y="2788920"/>
            <a:ext cx="1188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to look for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0"/>
          <p:cNvSpPr/>
          <p:nvPr/>
        </p:nvSpPr>
        <p:spPr>
          <a:xfrm>
            <a:off x="4416552" y="2103120"/>
            <a:ext cx="128016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0"/>
          <p:cNvSpPr/>
          <p:nvPr/>
        </p:nvSpPr>
        <p:spPr>
          <a:xfrm>
            <a:off x="4572000" y="1737360"/>
            <a:ext cx="1188720" cy="914400"/>
          </a:xfrm>
          <a:prstGeom prst="roundRect">
            <a:avLst>
              <a:gd fmla="val 8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0"/>
          <p:cNvSpPr txBox="1"/>
          <p:nvPr/>
        </p:nvSpPr>
        <p:spPr>
          <a:xfrm>
            <a:off x="4572000" y="1737360"/>
            <a:ext cx="1188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AI analysis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0"/>
          <p:cNvSpPr txBox="1"/>
          <p:nvPr/>
        </p:nvSpPr>
        <p:spPr>
          <a:xfrm>
            <a:off x="4572000" y="2788920"/>
            <a:ext cx="1188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Copilot in VS Code</a:t>
            </a:r>
            <a:b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Standardized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set of prompts all eng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ineers used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0"/>
          <p:cNvSpPr/>
          <p:nvPr/>
        </p:nvSpPr>
        <p:spPr>
          <a:xfrm>
            <a:off x="5788152" y="2103120"/>
            <a:ext cx="128016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0"/>
          <p:cNvSpPr/>
          <p:nvPr/>
        </p:nvSpPr>
        <p:spPr>
          <a:xfrm>
            <a:off x="5943600" y="1737360"/>
            <a:ext cx="1188720" cy="914400"/>
          </a:xfrm>
          <a:prstGeom prst="roundRect">
            <a:avLst>
              <a:gd fmla="val 8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0"/>
          <p:cNvSpPr txBox="1"/>
          <p:nvPr/>
        </p:nvSpPr>
        <p:spPr>
          <a:xfrm>
            <a:off x="5943600" y="1737360"/>
            <a:ext cx="1188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Human review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0"/>
          <p:cNvSpPr txBox="1"/>
          <p:nvPr/>
        </p:nvSpPr>
        <p:spPr>
          <a:xfrm>
            <a:off x="5943600" y="2788920"/>
            <a:ext cx="1188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Claims checked vs evidence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Engineers verify and fill in “unknowns”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0"/>
          <p:cNvSpPr/>
          <p:nvPr/>
        </p:nvSpPr>
        <p:spPr>
          <a:xfrm>
            <a:off x="7159752" y="2103120"/>
            <a:ext cx="128016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0"/>
          <p:cNvSpPr/>
          <p:nvPr/>
        </p:nvSpPr>
        <p:spPr>
          <a:xfrm>
            <a:off x="7315200" y="1737360"/>
            <a:ext cx="1188720" cy="914400"/>
          </a:xfrm>
          <a:prstGeom prst="roundRect">
            <a:avLst>
              <a:gd fmla="val 8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0"/>
          <p:cNvSpPr txBox="1"/>
          <p:nvPr/>
        </p:nvSpPr>
        <p:spPr>
          <a:xfrm>
            <a:off x="7315200" y="1737360"/>
            <a:ext cx="1188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Standard docs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0"/>
          <p:cNvSpPr txBox="1"/>
          <p:nvPr/>
        </p:nvSpPr>
        <p:spPr>
          <a:xfrm>
            <a:off x="7315200" y="2788920"/>
            <a:ext cx="1188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 template for all</a:t>
            </a:r>
            <a:b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b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Same format, same info, easy to read, set up for rebuild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0"/>
          <p:cNvSpPr txBox="1"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Humans stay in the loop at the review checkpoint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0"/>
          <p:cNvSpPr txBox="1"/>
          <p:nvPr>
            <p:ph idx="4294967295" type="sldNum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1"/>
          <p:cNvSpPr txBox="1"/>
          <p:nvPr>
            <p:ph type="title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lt1"/>
                </a:solidFill>
              </a:rPr>
              <a:t>Live demo</a:t>
            </a:r>
            <a:endParaRPr sz="3000"/>
          </a:p>
        </p:txBody>
      </p:sp>
      <p:sp>
        <p:nvSpPr>
          <p:cNvPr id="225" name="Google Shape;225;p11"/>
          <p:cNvSpPr/>
          <p:nvPr/>
        </p:nvSpPr>
        <p:spPr>
          <a:xfrm>
            <a:off x="457200" y="1554480"/>
            <a:ext cx="548640" cy="54864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1"/>
          <p:cNvSpPr txBox="1"/>
          <p:nvPr/>
        </p:nvSpPr>
        <p:spPr>
          <a:xfrm>
            <a:off x="457200" y="15544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1"/>
          <p:cNvSpPr txBox="1"/>
          <p:nvPr/>
        </p:nvSpPr>
        <p:spPr>
          <a:xfrm>
            <a:off x="457200" y="2286000"/>
            <a:ext cx="1508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Input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1"/>
          <p:cNvSpPr txBox="1"/>
          <p:nvPr/>
        </p:nvSpPr>
        <p:spPr>
          <a:xfrm>
            <a:off x="457200" y="2697480"/>
            <a:ext cx="1508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Dummy VB.NET service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1"/>
          <p:cNvSpPr/>
          <p:nvPr/>
        </p:nvSpPr>
        <p:spPr>
          <a:xfrm>
            <a:off x="2103120" y="1554480"/>
            <a:ext cx="548640" cy="54864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1"/>
          <p:cNvSpPr txBox="1"/>
          <p:nvPr/>
        </p:nvSpPr>
        <p:spPr>
          <a:xfrm>
            <a:off x="2103120" y="15544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1"/>
          <p:cNvSpPr txBox="1"/>
          <p:nvPr/>
        </p:nvSpPr>
        <p:spPr>
          <a:xfrm>
            <a:off x="2103120" y="2286000"/>
            <a:ext cx="1508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Index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1"/>
          <p:cNvSpPr txBox="1"/>
          <p:nvPr/>
        </p:nvSpPr>
        <p:spPr>
          <a:xfrm>
            <a:off x="2103120" y="2697480"/>
            <a:ext cx="1508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flow-index.md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1"/>
          <p:cNvSpPr/>
          <p:nvPr/>
        </p:nvSpPr>
        <p:spPr>
          <a:xfrm>
            <a:off x="3749040" y="1554480"/>
            <a:ext cx="548640" cy="54864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1"/>
          <p:cNvSpPr txBox="1"/>
          <p:nvPr/>
        </p:nvSpPr>
        <p:spPr>
          <a:xfrm>
            <a:off x="3749040" y="15544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1"/>
          <p:cNvSpPr txBox="1"/>
          <p:nvPr/>
        </p:nvSpPr>
        <p:spPr>
          <a:xfrm>
            <a:off x="3749040" y="2286000"/>
            <a:ext cx="1508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Skill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1"/>
          <p:cNvSpPr txBox="1"/>
          <p:nvPr/>
        </p:nvSpPr>
        <p:spPr>
          <a:xfrm>
            <a:off x="3749040" y="2697480"/>
            <a:ext cx="1508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Generate the diagram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1"/>
          <p:cNvSpPr/>
          <p:nvPr/>
        </p:nvSpPr>
        <p:spPr>
          <a:xfrm>
            <a:off x="5394960" y="1554480"/>
            <a:ext cx="548640" cy="54864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1"/>
          <p:cNvSpPr txBox="1"/>
          <p:nvPr/>
        </p:nvSpPr>
        <p:spPr>
          <a:xfrm>
            <a:off x="5394960" y="15544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1"/>
          <p:cNvSpPr txBox="1"/>
          <p:nvPr/>
        </p:nvSpPr>
        <p:spPr>
          <a:xfrm>
            <a:off x="5394960" y="2286000"/>
            <a:ext cx="1508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Standard doc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1"/>
          <p:cNvSpPr txBox="1"/>
          <p:nvPr/>
        </p:nvSpPr>
        <p:spPr>
          <a:xfrm>
            <a:off x="5394960" y="2697480"/>
            <a:ext cx="1508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Architecture doc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1"/>
          <p:cNvSpPr/>
          <p:nvPr/>
        </p:nvSpPr>
        <p:spPr>
          <a:xfrm>
            <a:off x="7040880" y="1554480"/>
            <a:ext cx="548640" cy="54864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1"/>
          <p:cNvSpPr txBox="1"/>
          <p:nvPr/>
        </p:nvSpPr>
        <p:spPr>
          <a:xfrm>
            <a:off x="7040880" y="15544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1"/>
          <p:cNvSpPr txBox="1"/>
          <p:nvPr/>
        </p:nvSpPr>
        <p:spPr>
          <a:xfrm>
            <a:off x="7040880" y="2286000"/>
            <a:ext cx="1508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Human check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1"/>
          <p:cNvSpPr txBox="1"/>
          <p:nvPr/>
        </p:nvSpPr>
        <p:spPr>
          <a:xfrm>
            <a:off x="7040880" y="2697480"/>
            <a:ext cx="1508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Verify one citation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1"/>
          <p:cNvSpPr txBox="1"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A fictional service stands in for the real code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2"/>
          <p:cNvSpPr txBox="1"/>
          <p:nvPr>
            <p:ph type="title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2"/>
                </a:solidFill>
              </a:rPr>
              <a:t>From documentation to blueprint</a:t>
            </a:r>
            <a:endParaRPr sz="3000"/>
          </a:p>
        </p:txBody>
      </p:sp>
      <p:sp>
        <p:nvSpPr>
          <p:cNvPr id="252" name="Google Shape;252;p12"/>
          <p:cNvSpPr/>
          <p:nvPr/>
        </p:nvSpPr>
        <p:spPr>
          <a:xfrm>
            <a:off x="457200" y="1463040"/>
            <a:ext cx="2560320" cy="2377440"/>
          </a:xfrm>
          <a:prstGeom prst="roundRect">
            <a:avLst>
              <a:gd fmla="val 307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2"/>
          <p:cNvSpPr/>
          <p:nvPr/>
        </p:nvSpPr>
        <p:spPr>
          <a:xfrm>
            <a:off x="685800" y="1691640"/>
            <a:ext cx="457200" cy="457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2"/>
          <p:cNvSpPr txBox="1"/>
          <p:nvPr/>
        </p:nvSpPr>
        <p:spPr>
          <a:xfrm>
            <a:off x="685800" y="16916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2"/>
          <p:cNvSpPr txBox="1"/>
          <p:nvPr/>
        </p:nvSpPr>
        <p:spPr>
          <a:xfrm>
            <a:off x="685800" y="2331720"/>
            <a:ext cx="2103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Docs became the spec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2"/>
          <p:cNvSpPr txBox="1"/>
          <p:nvPr/>
        </p:nvSpPr>
        <p:spPr>
          <a:xfrm>
            <a:off x="685800" y="3017520"/>
            <a:ext cx="2103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standard document is the input for the Databricks build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2"/>
          <p:cNvSpPr/>
          <p:nvPr/>
        </p:nvSpPr>
        <p:spPr>
          <a:xfrm>
            <a:off x="3035808" y="2468880"/>
            <a:ext cx="237744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2"/>
          <p:cNvSpPr/>
          <p:nvPr/>
        </p:nvSpPr>
        <p:spPr>
          <a:xfrm>
            <a:off x="3291840" y="1463040"/>
            <a:ext cx="2560320" cy="2377440"/>
          </a:xfrm>
          <a:prstGeom prst="roundRect">
            <a:avLst>
              <a:gd fmla="val 307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2"/>
          <p:cNvSpPr/>
          <p:nvPr/>
        </p:nvSpPr>
        <p:spPr>
          <a:xfrm>
            <a:off x="3520440" y="1691640"/>
            <a:ext cx="457200" cy="457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2"/>
          <p:cNvSpPr txBox="1"/>
          <p:nvPr/>
        </p:nvSpPr>
        <p:spPr>
          <a:xfrm>
            <a:off x="3520440" y="16916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2"/>
          <p:cNvSpPr txBox="1"/>
          <p:nvPr/>
        </p:nvSpPr>
        <p:spPr>
          <a:xfrm>
            <a:off x="3520440" y="2331720"/>
            <a:ext cx="2103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Copilot built from it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2"/>
          <p:cNvSpPr txBox="1"/>
          <p:nvPr/>
        </p:nvSpPr>
        <p:spPr>
          <a:xfrm>
            <a:off x="3520440" y="3017520"/>
            <a:ext cx="2103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blueprint guided generation of the new code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2"/>
          <p:cNvSpPr/>
          <p:nvPr/>
        </p:nvSpPr>
        <p:spPr>
          <a:xfrm>
            <a:off x="5870448" y="2468880"/>
            <a:ext cx="237744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2"/>
          <p:cNvSpPr/>
          <p:nvPr/>
        </p:nvSpPr>
        <p:spPr>
          <a:xfrm>
            <a:off x="6126480" y="1463040"/>
            <a:ext cx="2560320" cy="2377440"/>
          </a:xfrm>
          <a:prstGeom prst="roundRect">
            <a:avLst>
              <a:gd fmla="val 307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2"/>
          <p:cNvSpPr/>
          <p:nvPr/>
        </p:nvSpPr>
        <p:spPr>
          <a:xfrm>
            <a:off x="6355080" y="1691640"/>
            <a:ext cx="457200" cy="457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2"/>
          <p:cNvSpPr txBox="1"/>
          <p:nvPr/>
        </p:nvSpPr>
        <p:spPr>
          <a:xfrm>
            <a:off x="6355080" y="16916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2"/>
          <p:cNvSpPr txBox="1"/>
          <p:nvPr/>
        </p:nvSpPr>
        <p:spPr>
          <a:xfrm>
            <a:off x="6355080" y="2331720"/>
            <a:ext cx="2103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Metadata drives ingestion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2"/>
          <p:cNvSpPr txBox="1"/>
          <p:nvPr/>
        </p:nvSpPr>
        <p:spPr>
          <a:xfrm>
            <a:off x="6355080" y="3017520"/>
            <a:ext cx="2103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Findings fed metadata-driven ingestion directly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2"/>
          <p:cNvSpPr txBox="1"/>
          <p:nvPr>
            <p:ph idx="4294967295" type="sldNum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3"/>
          <p:cNvSpPr txBox="1"/>
          <p:nvPr>
            <p:ph type="title"/>
          </p:nvPr>
        </p:nvSpPr>
        <p:spPr>
          <a:xfrm>
            <a:off x="457200" y="274320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2"/>
                </a:solidFill>
              </a:rPr>
              <a:t>What it bought us</a:t>
            </a:r>
            <a:endParaRPr sz="3000"/>
          </a:p>
        </p:txBody>
      </p:sp>
      <p:sp>
        <p:nvSpPr>
          <p:cNvPr id="276" name="Google Shape;276;p13"/>
          <p:cNvSpPr/>
          <p:nvPr/>
        </p:nvSpPr>
        <p:spPr>
          <a:xfrm>
            <a:off x="457200" y="1463040"/>
            <a:ext cx="2560200" cy="2381400"/>
          </a:xfrm>
          <a:prstGeom prst="roundRect">
            <a:avLst>
              <a:gd fmla="val 3072" name="adj"/>
            </a:avLst>
          </a:prstGeom>
          <a:solidFill>
            <a:srgbClr val="EAF2F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3"/>
          <p:cNvSpPr/>
          <p:nvPr/>
        </p:nvSpPr>
        <p:spPr>
          <a:xfrm>
            <a:off x="685800" y="1691640"/>
            <a:ext cx="457200" cy="457200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3"/>
          <p:cNvSpPr txBox="1"/>
          <p:nvPr/>
        </p:nvSpPr>
        <p:spPr>
          <a:xfrm>
            <a:off x="685800" y="1691640"/>
            <a:ext cx="457200" cy="45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1" sz="1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3"/>
          <p:cNvSpPr txBox="1"/>
          <p:nvPr/>
        </p:nvSpPr>
        <p:spPr>
          <a:xfrm>
            <a:off x="685800" y="2301240"/>
            <a:ext cx="2103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50">
                <a:solidFill>
                  <a:srgbClr val="0B3C49"/>
                </a:solidFill>
                <a:latin typeface="Calibri"/>
                <a:ea typeface="Calibri"/>
                <a:cs typeface="Calibri"/>
                <a:sym typeface="Calibri"/>
              </a:rPr>
              <a:t>Faster understanding</a:t>
            </a:r>
            <a:endParaRPr b="1" sz="1850">
              <a:solidFill>
                <a:srgbClr val="0B3C4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3"/>
          <p:cNvSpPr txBox="1"/>
          <p:nvPr/>
        </p:nvSpPr>
        <p:spPr>
          <a:xfrm>
            <a:off x="685800" y="2891790"/>
            <a:ext cx="2103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Of the system, service by service</a:t>
            </a:r>
            <a:endParaRPr b="0" sz="1400">
              <a:solidFill>
                <a:srgbClr val="1F29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3"/>
          <p:cNvSpPr/>
          <p:nvPr/>
        </p:nvSpPr>
        <p:spPr>
          <a:xfrm>
            <a:off x="3291840" y="1463040"/>
            <a:ext cx="2560200" cy="2381400"/>
          </a:xfrm>
          <a:prstGeom prst="roundRect">
            <a:avLst>
              <a:gd fmla="val 3072" name="adj"/>
            </a:avLst>
          </a:prstGeom>
          <a:solidFill>
            <a:srgbClr val="EAF2F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3"/>
          <p:cNvSpPr/>
          <p:nvPr/>
        </p:nvSpPr>
        <p:spPr>
          <a:xfrm>
            <a:off x="3520440" y="1691640"/>
            <a:ext cx="457200" cy="457200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3"/>
          <p:cNvSpPr txBox="1"/>
          <p:nvPr/>
        </p:nvSpPr>
        <p:spPr>
          <a:xfrm>
            <a:off x="3520440" y="1691640"/>
            <a:ext cx="457200" cy="45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1" sz="1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3"/>
          <p:cNvSpPr txBox="1"/>
          <p:nvPr/>
        </p:nvSpPr>
        <p:spPr>
          <a:xfrm>
            <a:off x="3520440" y="2301240"/>
            <a:ext cx="2103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B3C49"/>
                </a:solidFill>
                <a:latin typeface="Calibri"/>
                <a:ea typeface="Calibri"/>
                <a:cs typeface="Calibri"/>
                <a:sym typeface="Calibri"/>
              </a:rPr>
              <a:t>Reviewable inputs</a:t>
            </a:r>
            <a:endParaRPr b="1" sz="2000">
              <a:solidFill>
                <a:srgbClr val="0B3C4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3"/>
          <p:cNvSpPr txBox="1"/>
          <p:nvPr/>
        </p:nvSpPr>
        <p:spPr>
          <a:xfrm>
            <a:off x="3520440" y="2891790"/>
            <a:ext cx="2103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Consistent docs people could actually check</a:t>
            </a:r>
            <a:endParaRPr b="0" sz="1400">
              <a:solidFill>
                <a:srgbClr val="1F29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3"/>
          <p:cNvSpPr/>
          <p:nvPr/>
        </p:nvSpPr>
        <p:spPr>
          <a:xfrm>
            <a:off x="6126480" y="1463040"/>
            <a:ext cx="2560200" cy="2381400"/>
          </a:xfrm>
          <a:prstGeom prst="roundRect">
            <a:avLst>
              <a:gd fmla="val 3072" name="adj"/>
            </a:avLst>
          </a:prstGeom>
          <a:solidFill>
            <a:srgbClr val="EAF2F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3"/>
          <p:cNvSpPr/>
          <p:nvPr/>
        </p:nvSpPr>
        <p:spPr>
          <a:xfrm>
            <a:off x="6355080" y="1691640"/>
            <a:ext cx="457200" cy="457200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3"/>
          <p:cNvSpPr txBox="1"/>
          <p:nvPr/>
        </p:nvSpPr>
        <p:spPr>
          <a:xfrm>
            <a:off x="6355080" y="1691640"/>
            <a:ext cx="457200" cy="45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1" sz="1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3"/>
          <p:cNvSpPr txBox="1"/>
          <p:nvPr/>
        </p:nvSpPr>
        <p:spPr>
          <a:xfrm>
            <a:off x="6355080" y="2301240"/>
            <a:ext cx="2103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50">
                <a:solidFill>
                  <a:srgbClr val="0B3C49"/>
                </a:solidFill>
                <a:latin typeface="Calibri"/>
                <a:ea typeface="Calibri"/>
                <a:cs typeface="Calibri"/>
                <a:sym typeface="Calibri"/>
              </a:rPr>
              <a:t>A repeatable method</a:t>
            </a:r>
            <a:endParaRPr b="1" sz="1850">
              <a:solidFill>
                <a:srgbClr val="0B3C4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3"/>
          <p:cNvSpPr txBox="1"/>
          <p:nvPr/>
        </p:nvSpPr>
        <p:spPr>
          <a:xfrm>
            <a:off x="6355080" y="2891790"/>
            <a:ext cx="2103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Ready for the next migration</a:t>
            </a:r>
            <a:endParaRPr b="0" sz="1400">
              <a:solidFill>
                <a:srgbClr val="1F29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3"/>
          <p:cNvSpPr txBox="1"/>
          <p:nvPr>
            <p:ph idx="4294967295" type="sldNum"/>
          </p:nvPr>
        </p:nvSpPr>
        <p:spPr>
          <a:xfrm>
            <a:off x="8412480" y="475488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4"/>
          <p:cNvSpPr txBox="1"/>
          <p:nvPr>
            <p:ph type="title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2"/>
                </a:solidFill>
              </a:rPr>
              <a:t>Where the AI got it wrong</a:t>
            </a:r>
            <a:endParaRPr sz="3000"/>
          </a:p>
        </p:txBody>
      </p:sp>
      <p:sp>
        <p:nvSpPr>
          <p:cNvPr id="298" name="Google Shape;298;p14"/>
          <p:cNvSpPr/>
          <p:nvPr/>
        </p:nvSpPr>
        <p:spPr>
          <a:xfrm>
            <a:off x="457200" y="1463040"/>
            <a:ext cx="2560320" cy="2377440"/>
          </a:xfrm>
          <a:prstGeom prst="roundRect">
            <a:avLst>
              <a:gd fmla="val 307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4"/>
          <p:cNvSpPr txBox="1"/>
          <p:nvPr/>
        </p:nvSpPr>
        <p:spPr>
          <a:xfrm>
            <a:off x="685800" y="1691640"/>
            <a:ext cx="2103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Missed implicit rules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4"/>
          <p:cNvSpPr txBox="1"/>
          <p:nvPr/>
        </p:nvSpPr>
        <p:spPr>
          <a:xfrm>
            <a:off x="685800" y="2651760"/>
            <a:ext cx="21031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Business rules that only exist by convention or in people's heads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4"/>
          <p:cNvSpPr/>
          <p:nvPr/>
        </p:nvSpPr>
        <p:spPr>
          <a:xfrm>
            <a:off x="3291840" y="1463040"/>
            <a:ext cx="2560320" cy="2377440"/>
          </a:xfrm>
          <a:prstGeom prst="roundRect">
            <a:avLst>
              <a:gd fmla="val 307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4"/>
          <p:cNvSpPr txBox="1"/>
          <p:nvPr/>
        </p:nvSpPr>
        <p:spPr>
          <a:xfrm>
            <a:off x="3520440" y="1691640"/>
            <a:ext cx="2103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Oracle behavior misread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4"/>
          <p:cNvSpPr txBox="1"/>
          <p:nvPr/>
        </p:nvSpPr>
        <p:spPr>
          <a:xfrm>
            <a:off x="3520440" y="2651760"/>
            <a:ext cx="21031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Database-specific semantics read as if they were plain code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4"/>
          <p:cNvSpPr/>
          <p:nvPr/>
        </p:nvSpPr>
        <p:spPr>
          <a:xfrm>
            <a:off x="6126480" y="1463040"/>
            <a:ext cx="2560320" cy="2377440"/>
          </a:xfrm>
          <a:prstGeom prst="roundRect">
            <a:avLst>
              <a:gd fmla="val 307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4"/>
          <p:cNvSpPr txBox="1"/>
          <p:nvPr/>
        </p:nvSpPr>
        <p:spPr>
          <a:xfrm>
            <a:off x="6355080" y="1691640"/>
            <a:ext cx="2103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Plausible but incorrect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4"/>
          <p:cNvSpPr txBox="1"/>
          <p:nvPr/>
        </p:nvSpPr>
        <p:spPr>
          <a:xfrm>
            <a:off x="6355080" y="2651760"/>
            <a:ext cx="21031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Summaries that sounded right and were not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4"/>
          <p:cNvSpPr txBox="1"/>
          <p:nvPr>
            <p:ph idx="4294967295" type="sldNum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5"/>
          <p:cNvSpPr txBox="1"/>
          <p:nvPr>
            <p:ph type="title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2"/>
                </a:solidFill>
              </a:rPr>
              <a:t>How we caught it</a:t>
            </a:r>
            <a:endParaRPr sz="3000"/>
          </a:p>
        </p:txBody>
      </p:sp>
      <p:sp>
        <p:nvSpPr>
          <p:cNvPr id="314" name="Google Shape;314;p15"/>
          <p:cNvSpPr/>
          <p:nvPr/>
        </p:nvSpPr>
        <p:spPr>
          <a:xfrm>
            <a:off x="457200" y="1371600"/>
            <a:ext cx="8229600" cy="914400"/>
          </a:xfrm>
          <a:prstGeom prst="roundRect">
            <a:avLst>
              <a:gd fmla="val 8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5"/>
          <p:cNvSpPr/>
          <p:nvPr/>
        </p:nvSpPr>
        <p:spPr>
          <a:xfrm>
            <a:off x="640080" y="1600200"/>
            <a:ext cx="457200" cy="4572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5"/>
          <p:cNvSpPr txBox="1"/>
          <p:nvPr/>
        </p:nvSpPr>
        <p:spPr>
          <a:xfrm>
            <a:off x="640080" y="1600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5"/>
          <p:cNvSpPr txBox="1"/>
          <p:nvPr/>
        </p:nvSpPr>
        <p:spPr>
          <a:xfrm>
            <a:off x="1325880" y="1481328"/>
            <a:ext cx="7132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Human review checkpoints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5"/>
          <p:cNvSpPr txBox="1"/>
          <p:nvPr/>
        </p:nvSpPr>
        <p:spPr>
          <a:xfrm>
            <a:off x="1325880" y="1828800"/>
            <a:ext cx="7132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person signs off before a doc becomes the spec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5"/>
          <p:cNvSpPr/>
          <p:nvPr/>
        </p:nvSpPr>
        <p:spPr>
          <a:xfrm>
            <a:off x="457200" y="2468880"/>
            <a:ext cx="8229600" cy="914400"/>
          </a:xfrm>
          <a:prstGeom prst="roundRect">
            <a:avLst>
              <a:gd fmla="val 8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5"/>
          <p:cNvSpPr/>
          <p:nvPr/>
        </p:nvSpPr>
        <p:spPr>
          <a:xfrm>
            <a:off x="640080" y="2697480"/>
            <a:ext cx="457200" cy="4572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5"/>
          <p:cNvSpPr txBox="1"/>
          <p:nvPr/>
        </p:nvSpPr>
        <p:spPr>
          <a:xfrm>
            <a:off x="640080" y="26974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5"/>
          <p:cNvSpPr txBox="1"/>
          <p:nvPr/>
        </p:nvSpPr>
        <p:spPr>
          <a:xfrm>
            <a:off x="1325880" y="2578608"/>
            <a:ext cx="7132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Validation against legacy outputs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5"/>
          <p:cNvSpPr txBox="1"/>
          <p:nvPr/>
        </p:nvSpPr>
        <p:spPr>
          <a:xfrm>
            <a:off x="1325880" y="2926080"/>
            <a:ext cx="7132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Compare what the docs say to what the system actually produces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5"/>
          <p:cNvSpPr/>
          <p:nvPr/>
        </p:nvSpPr>
        <p:spPr>
          <a:xfrm>
            <a:off x="457200" y="3566160"/>
            <a:ext cx="8229600" cy="914400"/>
          </a:xfrm>
          <a:prstGeom prst="roundRect">
            <a:avLst>
              <a:gd fmla="val 8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5"/>
          <p:cNvSpPr/>
          <p:nvPr/>
        </p:nvSpPr>
        <p:spPr>
          <a:xfrm>
            <a:off x="640080" y="3794760"/>
            <a:ext cx="457200" cy="457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5"/>
          <p:cNvSpPr txBox="1"/>
          <p:nvPr/>
        </p:nvSpPr>
        <p:spPr>
          <a:xfrm>
            <a:off x="640080" y="37947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5"/>
          <p:cNvSpPr txBox="1"/>
          <p:nvPr/>
        </p:nvSpPr>
        <p:spPr>
          <a:xfrm>
            <a:off x="1325880" y="3675888"/>
            <a:ext cx="7132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Next time: evidence on every claim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5"/>
          <p:cNvSpPr txBox="1"/>
          <p:nvPr/>
        </p:nvSpPr>
        <p:spPr>
          <a:xfrm>
            <a:off x="1325880" y="4023360"/>
            <a:ext cx="7132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Every statement cites a file and line, so review is quick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5"/>
          <p:cNvSpPr txBox="1"/>
          <p:nvPr>
            <p:ph idx="4294967295" type="sldNum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6"/>
          <p:cNvSpPr txBox="1"/>
          <p:nvPr>
            <p:ph type="title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2"/>
                </a:solidFill>
              </a:rPr>
              <a:t>Three things to try on your migration</a:t>
            </a:r>
            <a:endParaRPr sz="3000"/>
          </a:p>
        </p:txBody>
      </p:sp>
      <p:sp>
        <p:nvSpPr>
          <p:cNvPr id="336" name="Google Shape;336;p16"/>
          <p:cNvSpPr/>
          <p:nvPr/>
        </p:nvSpPr>
        <p:spPr>
          <a:xfrm>
            <a:off x="457200" y="1463040"/>
            <a:ext cx="548640" cy="54864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6"/>
          <p:cNvSpPr txBox="1"/>
          <p:nvPr/>
        </p:nvSpPr>
        <p:spPr>
          <a:xfrm>
            <a:off x="457200" y="146304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6"/>
          <p:cNvSpPr txBox="1"/>
          <p:nvPr/>
        </p:nvSpPr>
        <p:spPr>
          <a:xfrm>
            <a:off x="1188720" y="1371600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Index before you prompt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6"/>
          <p:cNvSpPr txBox="1"/>
          <p:nvPr/>
        </p:nvSpPr>
        <p:spPr>
          <a:xfrm>
            <a:off x="1188720" y="1755648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Give the AI a map, not a haystack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6"/>
          <p:cNvSpPr/>
          <p:nvPr/>
        </p:nvSpPr>
        <p:spPr>
          <a:xfrm>
            <a:off x="457200" y="2468880"/>
            <a:ext cx="548640" cy="54864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6"/>
          <p:cNvSpPr txBox="1"/>
          <p:nvPr/>
        </p:nvSpPr>
        <p:spPr>
          <a:xfrm>
            <a:off x="457200" y="24688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6"/>
          <p:cNvSpPr txBox="1"/>
          <p:nvPr/>
        </p:nvSpPr>
        <p:spPr>
          <a:xfrm>
            <a:off x="1188720" y="2377440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Write the skill, not the prompt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6"/>
          <p:cNvSpPr txBox="1"/>
          <p:nvPr/>
        </p:nvSpPr>
        <p:spPr>
          <a:xfrm>
            <a:off x="1188720" y="2761488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Capture what to look for once, reuse it everywhere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6"/>
          <p:cNvSpPr/>
          <p:nvPr/>
        </p:nvSpPr>
        <p:spPr>
          <a:xfrm>
            <a:off x="457200" y="3474720"/>
            <a:ext cx="548640" cy="54864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6"/>
          <p:cNvSpPr txBox="1"/>
          <p:nvPr/>
        </p:nvSpPr>
        <p:spPr>
          <a:xfrm>
            <a:off x="457200" y="347472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6"/>
          <p:cNvSpPr txBox="1"/>
          <p:nvPr/>
        </p:nvSpPr>
        <p:spPr>
          <a:xfrm>
            <a:off x="1188720" y="3383280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One standard, humans verify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6"/>
          <p:cNvSpPr txBox="1"/>
          <p:nvPr/>
        </p:nvSpPr>
        <p:spPr>
          <a:xfrm>
            <a:off x="1188720" y="3767328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Same template, every claim backed by evidence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6"/>
          <p:cNvSpPr/>
          <p:nvPr/>
        </p:nvSpPr>
        <p:spPr>
          <a:xfrm>
            <a:off x="5760720" y="1371600"/>
            <a:ext cx="2926080" cy="2743200"/>
          </a:xfrm>
          <a:prstGeom prst="roundRect">
            <a:avLst>
              <a:gd fmla="val 2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6"/>
          <p:cNvSpPr txBox="1"/>
          <p:nvPr/>
        </p:nvSpPr>
        <p:spPr>
          <a:xfrm>
            <a:off x="5989320" y="160020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Part 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6"/>
          <p:cNvSpPr txBox="1"/>
          <p:nvPr/>
        </p:nvSpPr>
        <p:spPr>
          <a:xfrm>
            <a:off x="5989320" y="2011680"/>
            <a:ext cx="246888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Using the blueprint to drive development with AI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6"/>
          <p:cNvSpPr txBox="1"/>
          <p:nvPr>
            <p:ph idx="4294967295" type="sldNum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7"/>
          <p:cNvSpPr txBox="1"/>
          <p:nvPr>
            <p:ph type="title"/>
          </p:nvPr>
        </p:nvSpPr>
        <p:spPr>
          <a:xfrm>
            <a:off x="640080" y="1188720"/>
            <a:ext cx="78638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mbria"/>
              <a:buNone/>
            </a:pPr>
            <a:r>
              <a:rPr b="1" lang="en-US" sz="4400">
                <a:solidFill>
                  <a:schemeClr val="lt1"/>
                </a:solidFill>
              </a:rPr>
              <a:t>Questions?</a:t>
            </a:r>
            <a:endParaRPr sz="4400"/>
          </a:p>
        </p:txBody>
      </p:sp>
      <p:sp>
        <p:nvSpPr>
          <p:cNvPr id="358" name="Google Shape;358;p17"/>
          <p:cNvSpPr txBox="1"/>
          <p:nvPr/>
        </p:nvSpPr>
        <p:spPr>
          <a:xfrm>
            <a:off x="640080" y="4023360"/>
            <a:ext cx="7863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Steve Moody  |  Portland Data + AI Meetup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kills Based RE">
  <a:themeElements>
    <a:clrScheme name="Skills Based RE">
      <a:dk1>
        <a:srgbClr val="1F2933"/>
      </a:dk1>
      <a:lt1>
        <a:srgbClr val="FFFFFF"/>
      </a:lt1>
      <a:dk2>
        <a:srgbClr val="0B3C49"/>
      </a:dk2>
      <a:lt2>
        <a:srgbClr val="EAF2F2"/>
      </a:lt2>
      <a:accent1>
        <a:srgbClr val="0B3C49"/>
      </a:accent1>
      <a:accent2>
        <a:srgbClr val="F2A541"/>
      </a:accent2>
      <a:accent3>
        <a:srgbClr val="2A9D8F"/>
      </a:accent3>
      <a:accent4>
        <a:srgbClr val="7FB7BE"/>
      </a:accent4>
      <a:accent5>
        <a:srgbClr val="C8553D"/>
      </a:accent5>
      <a:accent6>
        <a:srgbClr val="6B7A8F"/>
      </a:accent6>
      <a:hlink>
        <a:srgbClr val="2A9D8F"/>
      </a:hlink>
      <a:folHlink>
        <a:srgbClr val="6B7A8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kills Based RE">
  <a:themeElements>
    <a:clrScheme name="Skills Based RE">
      <a:dk1>
        <a:srgbClr val="1F2933"/>
      </a:dk1>
      <a:lt1>
        <a:srgbClr val="FFFFFF"/>
      </a:lt1>
      <a:dk2>
        <a:srgbClr val="0B3C49"/>
      </a:dk2>
      <a:lt2>
        <a:srgbClr val="EAF2F2"/>
      </a:lt2>
      <a:accent1>
        <a:srgbClr val="0B3C49"/>
      </a:accent1>
      <a:accent2>
        <a:srgbClr val="F2A541"/>
      </a:accent2>
      <a:accent3>
        <a:srgbClr val="2A9D8F"/>
      </a:accent3>
      <a:accent4>
        <a:srgbClr val="7FB7BE"/>
      </a:accent4>
      <a:accent5>
        <a:srgbClr val="C8553D"/>
      </a:accent5>
      <a:accent6>
        <a:srgbClr val="6B7A8F"/>
      </a:accent6>
      <a:hlink>
        <a:srgbClr val="2A9D8F"/>
      </a:hlink>
      <a:folHlink>
        <a:srgbClr val="6B7A8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2026-10-13T18:03:45Z</dcterms:created>
  <dc:creator>Steve Moody</dc:creator>
</cp:coreProperties>
</file>