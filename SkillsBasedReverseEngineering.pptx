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40c6ea3-fe6a-814d-2c02-553e97e2ff9c}">
          <p14:sldIdLst>
            <p14:sldId id="256"/>
            <p14:sldId id="257"/>
          </p14:sldIdLst>
        </p14:section>
        <p14:section name="The Problem" id="{e7cf47bf-f98f-5ebb-5224-330adcd2d5d2}">
          <p14:sldIdLst>
            <p14:sldId id="258"/>
            <p14:sldId id="259"/>
          </p14:sldIdLst>
        </p14:section>
        <p14:section name="Ad Hoc AI" id="{a6361b3c-f882-c459-2701-e30a7c389eaa}">
          <p14:sldIdLst>
            <p14:sldId id="260"/>
            <p14:sldId id="261"/>
            <p14:sldId id="262"/>
            <p14:sldId id="263"/>
          </p14:sldIdLst>
        </p14:section>
        <p14:section name="The Approach" id="{23d75dbb-8af7-2a5d-ce05-668e43300477}">
          <p14:sldIdLst>
            <p14:sldId id="264"/>
            <p14:sldId id="265"/>
          </p14:sldIdLst>
        </p14:section>
        <p14:section name="Live Demo" id="{4fd45668-cd66-5cb1-3526-b37d94b08ec5}">
          <p14:sldIdLst>
            <p14:sldId id="266"/>
          </p14:sldIdLst>
        </p14:section>
        <p14:section name="The Payoff" id="{fe7e9aac-cf74-fa2c-f00c-3e6c89e20aee}">
          <p14:sldIdLst>
            <p14:sldId id="267"/>
            <p14:sldId id="268"/>
          </p14:sldIdLst>
        </p14:section>
        <p14:section name="Lessons Learned" id="{a52b776b-4365-fe11-7d69-797a6dc5e03a}">
          <p14:sldIdLst>
            <p14:sldId id="269"/>
            <p14:sldId id="270"/>
          </p14:sldIdLst>
        </p14:section>
        <p14:section name="Close" id="{0265fe18-90ac-1ea0-1d2a-083b322e2039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 total for slides 1-2.) Introduce yourself and role. Set expectations: this is part 1 of 2 - understanding the legacy system. Part 2 is using the blueprint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parts, one demo in the middle. Tell them what they can steal: the skill-file pattern, the index, the documentation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 min for slides 3-4.) Land the scale. A .NET/Oracle system feeding market and energy data; the ETL logic lives in VB.NET services, not in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rules buried in procedural code, no specs, no tests. Manual review is months of reading, inconsistent notes, and knowledge that stays in people's heads. Keep this short - ad hoc AI is the more interesting failure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 min for slides 5-8.) Honest story: we started like everyone does. Each dev pointed Copilot at a service or proc with their own prompt. Felt fast; early results looked promising.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two real (sanitized) outputs for the same kind of procedure, side by side. These cards are illustrative. Light moment: everyone has seen vibe coding; this is vibe decoding. Highlight differences in structure, depth and terminology.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one rough number here if you have it: how long early attempts took, or how many different formats emerged.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slide and the roadmap for the approach section. Each need maps to exactly one step. Reuse this graphic as the index during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 min for slides 9-10.) The framing: AI reads, humans verify. The goal is a blueprint that can drive the build, not just notes. Tool is GitHub Copilot in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Index: why dumping 600K lines in a prompt fails, so we mapped services, procs and dependencies. Skill file: what to look for - business rules, data flows, side effects, edge cases; ignore boilerplate. Standard doc: one template for every service and proc. Humans stay in the loop at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 min.) Switch to VS Code. Say clearly: the demo service is a stand-in, not the real code. Follow the run sheet. Fallbacks: pre-generated outputs in the outputs folder and a recorded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 min for slides 12-13.) Docs became the spec for the Databricks build. Copilot used the blueprint to generate new code. Metadata-driven ingestion fed directly from the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REAL NUMBERS here if you have them (time to understand a service, review time, docs produced). Keep claims to what you can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 min for slides 14-15.) Use real examples from your migration here, not from the demo service. Be specific: one implicit rule it missed, one Oracle behavior it misread.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demo: the human check beat is exactly this. 'Tighten next time' - confirm this reflects what you would actually change; evidence citations on every claim is what the skills enforce.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 for slides 16-17.) Three things to try, then the Part 2 teaser: using the blueprint to drive development with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 Offer the demo kit structure (skills, index, standard) as reusable patterns, not the real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Making Legacy Code Explain Itself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Using AI skills to reverse engineer a .NET / Oracle system before migrating it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Steve Moody  |  Portland Data + AI Meetup  |  Part 1 of a two-part migration series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we'll cover</a:t>
            </a:r>
            <a:endParaRPr lang="en-US" sz="3000" dirty="0"/>
          </a:p>
        </p:txBody>
      </p:sp>
      <p:sp>
        <p:nvSpPr>
          <p:cNvPr id="4" name="Agenda card 1"/>
          <p:cNvSpPr/>
          <p:nvPr/>
        </p:nvSpPr>
        <p:spPr>
          <a:xfrm>
            <a:off x="457200" y="1463040"/>
            <a:ext cx="1920240" cy="2286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Agenda badge 1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legacy system nobody could explain</a:t>
            </a:r>
            <a:endParaRPr lang="en-US" sz="1400" dirty="0"/>
          </a:p>
        </p:txBody>
      </p:sp>
      <p:sp>
        <p:nvSpPr>
          <p:cNvPr id="9" name="Agenda card 2"/>
          <p:cNvSpPr/>
          <p:nvPr/>
        </p:nvSpPr>
        <p:spPr>
          <a:xfrm>
            <a:off x="2542032" y="1463040"/>
            <a:ext cx="1920240" cy="2286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Agenda badge 2"/>
          <p:cNvSpPr/>
          <p:nvPr/>
        </p:nvSpPr>
        <p:spPr>
          <a:xfrm>
            <a:off x="2724912" y="1645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2491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724912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approach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724912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ad hoc prompts to skills, an index and a standard</a:t>
            </a:r>
            <a:endParaRPr lang="en-US" sz="1400" dirty="0"/>
          </a:p>
        </p:txBody>
      </p:sp>
      <p:sp>
        <p:nvSpPr>
          <p:cNvPr id="14" name="Agenda card 3"/>
          <p:cNvSpPr/>
          <p:nvPr/>
        </p:nvSpPr>
        <p:spPr>
          <a:xfrm>
            <a:off x="4626864" y="1463040"/>
            <a:ext cx="1920240" cy="2286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Agenda badge 3"/>
          <p:cNvSpPr/>
          <p:nvPr/>
        </p:nvSpPr>
        <p:spPr>
          <a:xfrm>
            <a:off x="4809744" y="1645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0974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09744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payoff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809744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Documentation that became the build blueprint</a:t>
            </a:r>
            <a:endParaRPr lang="en-US" sz="1400" dirty="0"/>
          </a:p>
        </p:txBody>
      </p:sp>
      <p:sp>
        <p:nvSpPr>
          <p:cNvPr id="19" name="Agenda card 4"/>
          <p:cNvSpPr/>
          <p:nvPr/>
        </p:nvSpPr>
        <p:spPr>
          <a:xfrm>
            <a:off x="6711696" y="1463040"/>
            <a:ext cx="1920240" cy="2286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Agenda badge 4"/>
          <p:cNvSpPr/>
          <p:nvPr/>
        </p:nvSpPr>
        <p:spPr>
          <a:xfrm>
            <a:off x="6894576" y="1645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9457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894576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lessons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894576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Where the AI was wrong and how we caught it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Plus a live demo, and what you can reuse on your own migration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starting point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.NET and Oracle system feeding market and energy data</a:t>
            </a:r>
            <a:endParaRPr lang="en-US" sz="1800" dirty="0"/>
          </a:p>
        </p:txBody>
      </p:sp>
      <p:sp>
        <p:nvSpPr>
          <p:cNvPr id="5" name="Stat card 1"/>
          <p:cNvSpPr/>
          <p:nvPr/>
        </p:nvSpPr>
        <p:spPr>
          <a:xfrm>
            <a:off x="457200" y="182880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12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VB.NET services holding the ETL logic</a:t>
            </a:r>
            <a:endParaRPr lang="en-US" sz="1600" dirty="0"/>
          </a:p>
        </p:txBody>
      </p:sp>
      <p:sp>
        <p:nvSpPr>
          <p:cNvPr id="8" name="Stat card 2"/>
          <p:cNvSpPr/>
          <p:nvPr/>
        </p:nvSpPr>
        <p:spPr>
          <a:xfrm>
            <a:off x="3291840" y="182880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7472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600K+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lines of undocumented code</a:t>
            </a:r>
            <a:endParaRPr lang="en-US" sz="1600" dirty="0"/>
          </a:p>
        </p:txBody>
      </p:sp>
      <p:sp>
        <p:nvSpPr>
          <p:cNvPr id="11" name="Stat card 3"/>
          <p:cNvSpPr/>
          <p:nvPr/>
        </p:nvSpPr>
        <p:spPr>
          <a:xfrm>
            <a:off x="6126480" y="182880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100+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Oracle stored procedures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You can't migrate what you don't understand</a:t>
            </a:r>
            <a:endParaRPr lang="en-US" sz="3000" dirty="0"/>
          </a:p>
        </p:txBody>
      </p:sp>
      <p:sp>
        <p:nvSpPr>
          <p:cNvPr id="4" name="Hard card 1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Hard badge 1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Rules buried in code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Business logic hides in procedural VB.NET and PL/SQL</a:t>
            </a:r>
            <a:endParaRPr lang="en-US" sz="1400" dirty="0"/>
          </a:p>
        </p:txBody>
      </p:sp>
      <p:sp>
        <p:nvSpPr>
          <p:cNvPr id="9" name="Hard card 2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Hard badge 2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safety net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926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specs, no tests, little documentation</a:t>
            </a:r>
            <a:endParaRPr lang="en-US" sz="1400" dirty="0"/>
          </a:p>
        </p:txBody>
      </p:sp>
      <p:sp>
        <p:nvSpPr>
          <p:cNvPr id="14" name="Hard card 3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5" name="Hard badge 3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6758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Manual review doesn't scale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Months of reading, notes that differ person to person, knowledge stuck in heads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we started: ad hoc prompts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6304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Each dev pointed Copilot at a service or procedure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Shared goal: understand the system well enough to migrate 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Felt fast, and early results looked promising</a:t>
            </a:r>
            <a:endParaRPr lang="en-US" sz="1800" dirty="0"/>
          </a:p>
        </p:txBody>
      </p:sp>
      <p:sp>
        <p:nvSpPr>
          <p:cNvPr id="5" name="Dev box 1"/>
          <p:cNvSpPr/>
          <p:nvPr/>
        </p:nvSpPr>
        <p:spPr>
          <a:xfrm>
            <a:off x="4846320" y="137160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84632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 A prompt</a:t>
            </a:r>
            <a:endParaRPr lang="en-US" sz="1400" dirty="0"/>
          </a:p>
        </p:txBody>
      </p:sp>
      <p:sp>
        <p:nvSpPr>
          <p:cNvPr id="7" name="Dev arrow 1"/>
          <p:cNvSpPr/>
          <p:nvPr/>
        </p:nvSpPr>
        <p:spPr>
          <a:xfrm>
            <a:off x="6492240" y="1554480"/>
            <a:ext cx="45720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Dev box 2"/>
          <p:cNvSpPr/>
          <p:nvPr/>
        </p:nvSpPr>
        <p:spPr>
          <a:xfrm>
            <a:off x="4846320" y="228600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4632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 B prompt</a:t>
            </a:r>
            <a:endParaRPr lang="en-US" sz="1400" dirty="0"/>
          </a:p>
        </p:txBody>
      </p:sp>
      <p:sp>
        <p:nvSpPr>
          <p:cNvPr id="10" name="Dev arrow 2"/>
          <p:cNvSpPr/>
          <p:nvPr/>
        </p:nvSpPr>
        <p:spPr>
          <a:xfrm>
            <a:off x="6492240" y="2468880"/>
            <a:ext cx="45720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Dev box 3"/>
          <p:cNvSpPr/>
          <p:nvPr/>
        </p:nvSpPr>
        <p:spPr>
          <a:xfrm>
            <a:off x="4846320" y="320040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 C prompt</a:t>
            </a:r>
            <a:endParaRPr lang="en-US" sz="1400" dirty="0"/>
          </a:p>
        </p:txBody>
      </p:sp>
      <p:sp>
        <p:nvSpPr>
          <p:cNvPr id="13" name="Dev arrow 3"/>
          <p:cNvSpPr/>
          <p:nvPr/>
        </p:nvSpPr>
        <p:spPr>
          <a:xfrm>
            <a:off x="6492240" y="3383280"/>
            <a:ext cx="45720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4" name="Proc box"/>
          <p:cNvSpPr/>
          <p:nvPr/>
        </p:nvSpPr>
        <p:spPr>
          <a:xfrm>
            <a:off x="7040880" y="1737360"/>
            <a:ext cx="164592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040880" y="1737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Same legacy procedure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"Vibe decoding" in practice</a:t>
            </a:r>
            <a:endParaRPr lang="en-US" sz="3000" dirty="0"/>
          </a:p>
        </p:txBody>
      </p:sp>
      <p:sp>
        <p:nvSpPr>
          <p:cNvPr id="4" name="Vibe card 1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Dev A's output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574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"This procedure loads hourly data, does some conversions and writes the result to a table."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Prose paragraph  |  No parameters  |  No evidence</a:t>
            </a:r>
            <a:endParaRPr lang="en-US" sz="1400" dirty="0"/>
          </a:p>
        </p:txBody>
      </p:sp>
      <p:sp>
        <p:nvSpPr>
          <p:cNvPr id="8" name="Vibe card 2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Dev B's output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20574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Parameters table, list of tables touched, three bullets of "business rules"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Structured  |  Different headings  |  Own terminology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Same kind of procedure. Two different shapes of answer. (Illustrative)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it broke down</a:t>
            </a:r>
            <a:endParaRPr lang="en-US" sz="3000" dirty="0"/>
          </a:p>
        </p:txBody>
      </p:sp>
      <p:sp>
        <p:nvSpPr>
          <p:cNvPr id="4" name="Broke card 1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Inconsistent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Different structure, depth and terminology per dev</a:t>
            </a:r>
            <a:endParaRPr lang="en-US" sz="1400" dirty="0"/>
          </a:p>
        </p:txBody>
      </p:sp>
      <p:sp>
        <p:nvSpPr>
          <p:cNvPr id="7" name="Broke card 2"/>
          <p:cNvSpPr/>
          <p:nvPr/>
        </p:nvSpPr>
        <p:spPr>
          <a:xfrm>
            <a:off x="329184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Slow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Everyone rediscovering the same prompt fixes and context</a:t>
            </a:r>
            <a:endParaRPr lang="en-US" sz="1400" dirty="0"/>
          </a:p>
        </p:txBody>
      </p:sp>
      <p:sp>
        <p:nvSpPr>
          <p:cNvPr id="10" name="Broke card 3"/>
          <p:cNvSpPr/>
          <p:nvPr/>
        </p:nvSpPr>
        <p:spPr>
          <a:xfrm>
            <a:off x="612648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Hard to combine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Docs couldn't be compared, searched or fed downstream</a:t>
            </a:r>
            <a:endParaRPr lang="en-US" sz="1400" dirty="0"/>
          </a:p>
        </p:txBody>
      </p:sp>
      <p:sp>
        <p:nvSpPr>
          <p:cNvPr id="13" name="Broke card 4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Hard to trust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shared definition of "done" or a good doc</a:t>
            </a:r>
            <a:endParaRPr lang="en-US" sz="1400" dirty="0"/>
          </a:p>
        </p:txBody>
      </p:sp>
      <p:sp>
        <p:nvSpPr>
          <p:cNvPr id="16" name="Broke card 5"/>
          <p:cNvSpPr/>
          <p:nvPr/>
        </p:nvSpPr>
        <p:spPr>
          <a:xfrm>
            <a:off x="3291840" y="31089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Redundant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Shared components analyzed again by different people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needed instead</a:t>
            </a:r>
            <a:endParaRPr lang="en-US" sz="3000" dirty="0"/>
          </a:p>
        </p:txBody>
      </p:sp>
      <p:sp>
        <p:nvSpPr>
          <p:cNvPr id="4" name="Need card 1"/>
          <p:cNvSpPr/>
          <p:nvPr/>
        </p:nvSpPr>
        <p:spPr>
          <a:xfrm>
            <a:off x="457200" y="1371600"/>
            <a:ext cx="4754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shared way of telling the AI what to look for</a:t>
            </a:r>
            <a:endParaRPr lang="en-US" sz="1600" dirty="0"/>
          </a:p>
        </p:txBody>
      </p:sp>
      <p:sp>
        <p:nvSpPr>
          <p:cNvPr id="6" name="Need arrow 1"/>
          <p:cNvSpPr/>
          <p:nvPr/>
        </p:nvSpPr>
        <p:spPr>
          <a:xfrm>
            <a:off x="5349240" y="1691640"/>
            <a:ext cx="7315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7" name="Solution card 1"/>
          <p:cNvSpPr/>
          <p:nvPr/>
        </p:nvSpPr>
        <p:spPr>
          <a:xfrm>
            <a:off x="6217920" y="1371600"/>
            <a:ext cx="24688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1371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Skill files</a:t>
            </a:r>
            <a:endParaRPr lang="en-US" sz="1600" dirty="0"/>
          </a:p>
        </p:txBody>
      </p:sp>
      <p:sp>
        <p:nvSpPr>
          <p:cNvPr id="9" name="Need card 2"/>
          <p:cNvSpPr/>
          <p:nvPr/>
        </p:nvSpPr>
        <p:spPr>
          <a:xfrm>
            <a:off x="457200" y="2468880"/>
            <a:ext cx="4754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468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navigable map so context isn't rebuilt every time</a:t>
            </a:r>
            <a:endParaRPr lang="en-US" sz="1600" dirty="0"/>
          </a:p>
        </p:txBody>
      </p:sp>
      <p:sp>
        <p:nvSpPr>
          <p:cNvPr id="11" name="Need arrow 2"/>
          <p:cNvSpPr/>
          <p:nvPr/>
        </p:nvSpPr>
        <p:spPr>
          <a:xfrm>
            <a:off x="5349240" y="2788920"/>
            <a:ext cx="7315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Solution card 2"/>
          <p:cNvSpPr/>
          <p:nvPr/>
        </p:nvSpPr>
        <p:spPr>
          <a:xfrm>
            <a:off x="6217920" y="2468880"/>
            <a:ext cx="24688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17920" y="2468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codebase index</a:t>
            </a:r>
            <a:endParaRPr lang="en-US" sz="1600" dirty="0"/>
          </a:p>
        </p:txBody>
      </p:sp>
      <p:sp>
        <p:nvSpPr>
          <p:cNvPr id="14" name="Need card 3"/>
          <p:cNvSpPr/>
          <p:nvPr/>
        </p:nvSpPr>
        <p:spPr>
          <a:xfrm>
            <a:off x="457200" y="3566160"/>
            <a:ext cx="4754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35661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documentation format everyone writes to</a:t>
            </a:r>
            <a:endParaRPr lang="en-US" sz="1600" dirty="0"/>
          </a:p>
        </p:txBody>
      </p:sp>
      <p:sp>
        <p:nvSpPr>
          <p:cNvPr id="16" name="Need arrow 3"/>
          <p:cNvSpPr/>
          <p:nvPr/>
        </p:nvSpPr>
        <p:spPr>
          <a:xfrm>
            <a:off x="5349240" y="3886200"/>
            <a:ext cx="7315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Solution card 3"/>
          <p:cNvSpPr/>
          <p:nvPr/>
        </p:nvSpPr>
        <p:spPr>
          <a:xfrm>
            <a:off x="6217920" y="3566160"/>
            <a:ext cx="24688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21792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Documentation standards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idea: make the code explain itself</a:t>
            </a:r>
            <a:endParaRPr lang="en-US" sz="3000" dirty="0"/>
          </a:p>
        </p:txBody>
      </p:sp>
      <p:sp>
        <p:nvSpPr>
          <p:cNvPr id="4" name="AI card"/>
          <p:cNvSpPr/>
          <p:nvPr/>
        </p:nvSpPr>
        <p:spPr>
          <a:xfrm>
            <a:off x="457200" y="137160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AI reads the code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94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Fast, tireless, consistent when told exactly what to look for</a:t>
            </a:r>
            <a:endParaRPr lang="en-US" sz="1600" dirty="0"/>
          </a:p>
        </p:txBody>
      </p:sp>
      <p:sp>
        <p:nvSpPr>
          <p:cNvPr id="7" name="Human card"/>
          <p:cNvSpPr/>
          <p:nvPr/>
        </p:nvSpPr>
        <p:spPr>
          <a:xfrm>
            <a:off x="4663440" y="137160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Humans verify it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194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 claims against evidence, catch what the AI can't see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Goal: a blueprint that can drive the build, not just notes.  Tool: GitHub Copilot in VS Code.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workflow, end to end</a:t>
            </a:r>
            <a:endParaRPr lang="en-US" sz="3000" dirty="0"/>
          </a:p>
        </p:txBody>
      </p:sp>
      <p:sp>
        <p:nvSpPr>
          <p:cNvPr id="4" name="Flow box 1"/>
          <p:cNvSpPr/>
          <p:nvPr/>
        </p:nvSpPr>
        <p:spPr>
          <a:xfrm>
            <a:off x="45720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Code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788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VB.NET and Oracle</a:t>
            </a:r>
            <a:endParaRPr lang="en-US" sz="1200" dirty="0"/>
          </a:p>
        </p:txBody>
      </p:sp>
      <p:sp>
        <p:nvSpPr>
          <p:cNvPr id="7" name="Flow arrow 1"/>
          <p:cNvSpPr/>
          <p:nvPr/>
        </p:nvSpPr>
        <p:spPr>
          <a:xfrm>
            <a:off x="1673352" y="2103120"/>
            <a:ext cx="12801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Flow box 2"/>
          <p:cNvSpPr/>
          <p:nvPr/>
        </p:nvSpPr>
        <p:spPr>
          <a:xfrm>
            <a:off x="182880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82880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Index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788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Services, procs, dependencies</a:t>
            </a:r>
            <a:endParaRPr lang="en-US" sz="1200" dirty="0"/>
          </a:p>
        </p:txBody>
      </p:sp>
      <p:sp>
        <p:nvSpPr>
          <p:cNvPr id="11" name="Flow arrow 2"/>
          <p:cNvSpPr/>
          <p:nvPr/>
        </p:nvSpPr>
        <p:spPr>
          <a:xfrm>
            <a:off x="3044952" y="2103120"/>
            <a:ext cx="12801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2" name="Flow box 3"/>
          <p:cNvSpPr/>
          <p:nvPr/>
        </p:nvSpPr>
        <p:spPr>
          <a:xfrm>
            <a:off x="320040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0040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Skill file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2788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 to look for</a:t>
            </a:r>
            <a:endParaRPr lang="en-US" sz="1200" dirty="0"/>
          </a:p>
        </p:txBody>
      </p:sp>
      <p:sp>
        <p:nvSpPr>
          <p:cNvPr id="15" name="Flow arrow 3"/>
          <p:cNvSpPr/>
          <p:nvPr/>
        </p:nvSpPr>
        <p:spPr>
          <a:xfrm>
            <a:off x="4416552" y="2103120"/>
            <a:ext cx="12801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6" name="Flow box 4"/>
          <p:cNvSpPr/>
          <p:nvPr/>
        </p:nvSpPr>
        <p:spPr>
          <a:xfrm>
            <a:off x="457200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analysis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2788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Copilot in VS Code</a:t>
            </a:r>
            <a:endParaRPr lang="en-US" sz="1200" dirty="0"/>
          </a:p>
        </p:txBody>
      </p:sp>
      <p:sp>
        <p:nvSpPr>
          <p:cNvPr id="19" name="Flow arrow 4"/>
          <p:cNvSpPr/>
          <p:nvPr/>
        </p:nvSpPr>
        <p:spPr>
          <a:xfrm>
            <a:off x="5788152" y="2103120"/>
            <a:ext cx="12801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0" name="Flow box 5"/>
          <p:cNvSpPr/>
          <p:nvPr/>
        </p:nvSpPr>
        <p:spPr>
          <a:xfrm>
            <a:off x="594360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4360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Human review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2788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Claims checked vs evidence</a:t>
            </a:r>
            <a:endParaRPr lang="en-US" sz="1200" dirty="0"/>
          </a:p>
        </p:txBody>
      </p:sp>
      <p:sp>
        <p:nvSpPr>
          <p:cNvPr id="23" name="Flow arrow 5"/>
          <p:cNvSpPr/>
          <p:nvPr/>
        </p:nvSpPr>
        <p:spPr>
          <a:xfrm>
            <a:off x="7159752" y="2103120"/>
            <a:ext cx="12801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4" name="Flow box 6"/>
          <p:cNvSpPr/>
          <p:nvPr/>
        </p:nvSpPr>
        <p:spPr>
          <a:xfrm>
            <a:off x="731520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Standard doc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2788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template for all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Humans stay in the loop at the review checkpoint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Live demo</a:t>
            </a:r>
            <a:endParaRPr lang="en-US" sz="3000" dirty="0"/>
          </a:p>
        </p:txBody>
      </p:sp>
      <p:sp>
        <p:nvSpPr>
          <p:cNvPr id="4" name="Demo badge 1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Input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974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Dummy VB.NET service</a:t>
            </a:r>
            <a:endParaRPr lang="en-US" sz="1400" dirty="0"/>
          </a:p>
        </p:txBody>
      </p:sp>
      <p:sp>
        <p:nvSpPr>
          <p:cNvPr id="8" name="Demo badge 2"/>
          <p:cNvSpPr/>
          <p:nvPr/>
        </p:nvSpPr>
        <p:spPr>
          <a:xfrm>
            <a:off x="210312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03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Index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103120" y="26974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flow-index.md</a:t>
            </a:r>
            <a:endParaRPr lang="en-US" sz="1400" dirty="0"/>
          </a:p>
        </p:txBody>
      </p:sp>
      <p:sp>
        <p:nvSpPr>
          <p:cNvPr id="12" name="Demo badge 3"/>
          <p:cNvSpPr/>
          <p:nvPr/>
        </p:nvSpPr>
        <p:spPr>
          <a:xfrm>
            <a:off x="374904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749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Skill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26974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Generate the diagram</a:t>
            </a:r>
            <a:endParaRPr lang="en-US" sz="1400" dirty="0"/>
          </a:p>
        </p:txBody>
      </p:sp>
      <p:sp>
        <p:nvSpPr>
          <p:cNvPr id="16" name="Demo badge 4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394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Standard doc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26974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Architecture doc</a:t>
            </a:r>
            <a:endParaRPr lang="en-US" sz="1400" dirty="0"/>
          </a:p>
        </p:txBody>
      </p:sp>
      <p:sp>
        <p:nvSpPr>
          <p:cNvPr id="20" name="Demo badge 5"/>
          <p:cNvSpPr/>
          <p:nvPr/>
        </p:nvSpPr>
        <p:spPr>
          <a:xfrm>
            <a:off x="704088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040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Human check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6974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Verify one citation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A fictional service stands in for the real code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documentation to blueprint</a:t>
            </a:r>
            <a:endParaRPr lang="en-US" sz="3000" dirty="0"/>
          </a:p>
        </p:txBody>
      </p:sp>
      <p:sp>
        <p:nvSpPr>
          <p:cNvPr id="4" name="Blueprint card 1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Blueprint badge 1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Docs became the spec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standard document is the input for the Databricks build</a:t>
            </a:r>
            <a:endParaRPr lang="en-US" sz="1400" dirty="0"/>
          </a:p>
        </p:txBody>
      </p:sp>
      <p:sp>
        <p:nvSpPr>
          <p:cNvPr id="9" name="Blueprint arrow 1"/>
          <p:cNvSpPr/>
          <p:nvPr/>
        </p:nvSpPr>
        <p:spPr>
          <a:xfrm>
            <a:off x="3035808" y="2468880"/>
            <a:ext cx="237744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Blueprint card 2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1" name="Blueprint badge 2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Copilot built from it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blueprint guided generation of the new code</a:t>
            </a:r>
            <a:endParaRPr lang="en-US" sz="1400" dirty="0"/>
          </a:p>
        </p:txBody>
      </p:sp>
      <p:sp>
        <p:nvSpPr>
          <p:cNvPr id="15" name="Blueprint arrow 2"/>
          <p:cNvSpPr/>
          <p:nvPr/>
        </p:nvSpPr>
        <p:spPr>
          <a:xfrm>
            <a:off x="5870448" y="2468880"/>
            <a:ext cx="237744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Blueprint card 3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7" name="Blueprint badge 3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Metadata drives ingestion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Findings fed metadata-driven ingestion directly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it bought us</a:t>
            </a:r>
            <a:endParaRPr lang="en-US" sz="3000" dirty="0"/>
          </a:p>
        </p:txBody>
      </p:sp>
      <p:sp>
        <p:nvSpPr>
          <p:cNvPr id="4" name="Bought card 1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Bought badge 1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Faster understanding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 system, service by service</a:t>
            </a:r>
            <a:endParaRPr lang="en-US" sz="1400" dirty="0"/>
          </a:p>
        </p:txBody>
      </p:sp>
      <p:sp>
        <p:nvSpPr>
          <p:cNvPr id="9" name="Bought card 2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Bought badge 2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Reviewable inputs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926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Consistent docs people could actually check</a:t>
            </a:r>
            <a:endParaRPr lang="en-US" sz="1400" dirty="0"/>
          </a:p>
        </p:txBody>
      </p:sp>
      <p:sp>
        <p:nvSpPr>
          <p:cNvPr id="14" name="Bought card 3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5" name="Bought badge 3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6758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repeatable method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Ready for the next migration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the AI got it wrong</a:t>
            </a:r>
            <a:endParaRPr lang="en-US" sz="3000" dirty="0"/>
          </a:p>
        </p:txBody>
      </p:sp>
      <p:sp>
        <p:nvSpPr>
          <p:cNvPr id="4" name="Wrong card 1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Missed implicit rules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651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Business rules that only exist by convention or in people's heads</a:t>
            </a:r>
            <a:endParaRPr lang="en-US" sz="1400" dirty="0"/>
          </a:p>
        </p:txBody>
      </p:sp>
      <p:sp>
        <p:nvSpPr>
          <p:cNvPr id="7" name="Wrong card 2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2044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Oracle behavior misread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651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Database-specific semantics read as if they were plain code</a:t>
            </a:r>
            <a:endParaRPr lang="en-US" sz="1400" dirty="0"/>
          </a:p>
        </p:txBody>
      </p:sp>
      <p:sp>
        <p:nvSpPr>
          <p:cNvPr id="10" name="Wrong card 3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5508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Plausible but incorrect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651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Summaries that sounded right and were not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we caught it</a:t>
            </a:r>
            <a:endParaRPr lang="en-US" sz="3000" dirty="0"/>
          </a:p>
        </p:txBody>
      </p:sp>
      <p:sp>
        <p:nvSpPr>
          <p:cNvPr id="4" name="Caught card 1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Caught badge 1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Human review checkpoints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person signs off before a doc becomes the spec</a:t>
            </a:r>
            <a:endParaRPr lang="en-US" sz="1400" dirty="0"/>
          </a:p>
        </p:txBody>
      </p:sp>
      <p:sp>
        <p:nvSpPr>
          <p:cNvPr id="9" name="Caught card 2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Caught badge 2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Validation against legacy outputs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926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what the docs say to what the system actually produces</a:t>
            </a:r>
            <a:endParaRPr lang="en-US" sz="1400" dirty="0"/>
          </a:p>
        </p:txBody>
      </p:sp>
      <p:sp>
        <p:nvSpPr>
          <p:cNvPr id="14" name="Caught card 3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5" name="Caught badge 3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6758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Next time: evidence on every claim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statement cites a file and line, so review is quick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things to try on your migration</a:t>
            </a:r>
            <a:endParaRPr lang="en-US" sz="3000" dirty="0"/>
          </a:p>
        </p:txBody>
      </p:sp>
      <p:sp>
        <p:nvSpPr>
          <p:cNvPr id="4" name="Take badge 1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Index before you prompt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55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the AI a map, not a haystack</a:t>
            </a:r>
            <a:endParaRPr lang="en-US" sz="1400" dirty="0"/>
          </a:p>
        </p:txBody>
      </p:sp>
      <p:sp>
        <p:nvSpPr>
          <p:cNvPr id="8" name="Take badge 2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Write the skill, not the prompt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61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Capture what to look for once, reuse it everywhere</a:t>
            </a:r>
            <a:endParaRPr lang="en-US" sz="1400" dirty="0"/>
          </a:p>
        </p:txBody>
      </p:sp>
      <p:sp>
        <p:nvSpPr>
          <p:cNvPr id="12" name="Take badge 3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One standard, humans verify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767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template, every claim backed by evidence</a:t>
            </a:r>
            <a:endParaRPr lang="en-US" sz="1400" dirty="0"/>
          </a:p>
        </p:txBody>
      </p:sp>
      <p:sp>
        <p:nvSpPr>
          <p:cNvPr id="16" name="Part 2 card"/>
          <p:cNvSpPr/>
          <p:nvPr/>
        </p:nvSpPr>
        <p:spPr>
          <a:xfrm>
            <a:off x="5760720" y="1371600"/>
            <a:ext cx="292608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8932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89320" y="20116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Using the blueprint to drive development with AI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Questions?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Steve Moody  |  Portland Data + AI Meetup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s Based RE">
  <a:themeElements>
    <a:clrScheme name="Skills Based RE">
      <a:dk1>
        <a:srgbClr val="1F2933"/>
      </a:dk1>
      <a:lt1>
        <a:srgbClr val="FFFFFF"/>
      </a:lt1>
      <a:dk2>
        <a:srgbClr val="0B3C49"/>
      </a:dk2>
      <a:lt2>
        <a:srgbClr val="EAF2F2"/>
      </a:lt2>
      <a:accent1>
        <a:srgbClr val="0B3C49"/>
      </a:accent1>
      <a:accent2>
        <a:srgbClr val="F2A541"/>
      </a:accent2>
      <a:accent3>
        <a:srgbClr val="2A9D8F"/>
      </a:accent3>
      <a:accent4>
        <a:srgbClr val="7FB7BE"/>
      </a:accent4>
      <a:accent5>
        <a:srgbClr val="C8553D"/>
      </a:accent5>
      <a:accent6>
        <a:srgbClr val="6B7A8F"/>
      </a:accent6>
      <a:hlink>
        <a:srgbClr val="2A9D8F"/>
      </a:hlink>
      <a:folHlink>
        <a:srgbClr val="6B7A8F"/>
      </a:folHlink>
    </a:clrScheme>
    <a:fontScheme name="Skills Based 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Legacy Code Explain Itself</dc:title>
  <dc:subject>PptxGenJS Presentation</dc:subject>
  <dc:creator>Steve Moody</dc:creator>
  <cp:lastModifiedBy>Steve Moody</cp:lastModifiedBy>
  <cp:revision>1</cp:revision>
  <dcterms:created xsi:type="dcterms:W3CDTF">2026-10-13T18:03:45Z</dcterms:created>
  <dcterms:modified xsi:type="dcterms:W3CDTF">2026-10-13T18:03:45Z</dcterms:modified>
</cp:coreProperties>
</file>